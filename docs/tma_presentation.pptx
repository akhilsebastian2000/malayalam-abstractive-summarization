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10" r:id="rId4"/>
  </p:sldMasterIdLst>
  <p:notesMasterIdLst>
    <p:notesMasterId r:id="rId32"/>
  </p:notesMasterIdLst>
  <p:handoutMasterIdLst>
    <p:handoutMasterId r:id="rId33"/>
  </p:handoutMasterIdLst>
  <p:sldIdLst>
    <p:sldId id="774" r:id="rId5"/>
    <p:sldId id="802" r:id="rId6"/>
    <p:sldId id="859" r:id="rId7"/>
    <p:sldId id="946" r:id="rId8"/>
    <p:sldId id="947" r:id="rId9"/>
    <p:sldId id="948" r:id="rId10"/>
    <p:sldId id="949" r:id="rId11"/>
    <p:sldId id="950" r:id="rId12"/>
    <p:sldId id="951" r:id="rId13"/>
    <p:sldId id="952" r:id="rId14"/>
    <p:sldId id="953" r:id="rId15"/>
    <p:sldId id="954" r:id="rId16"/>
    <p:sldId id="955" r:id="rId17"/>
    <p:sldId id="956" r:id="rId18"/>
    <p:sldId id="957" r:id="rId19"/>
    <p:sldId id="958" r:id="rId20"/>
    <p:sldId id="959" r:id="rId21"/>
    <p:sldId id="960" r:id="rId22"/>
    <p:sldId id="961" r:id="rId23"/>
    <p:sldId id="962" r:id="rId24"/>
    <p:sldId id="963" r:id="rId25"/>
    <p:sldId id="964" r:id="rId26"/>
    <p:sldId id="965" r:id="rId27"/>
    <p:sldId id="966" r:id="rId28"/>
    <p:sldId id="944" r:id="rId29"/>
    <p:sldId id="945" r:id="rId30"/>
    <p:sldId id="79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Peeta Basa Pati" initials="DPBP" lastIdx="1" clrIdx="0">
    <p:extLst>
      <p:ext uri="{19B8F6BF-5375-455C-9EA6-DF929625EA0E}">
        <p15:presenceInfo xmlns:p15="http://schemas.microsoft.com/office/powerpoint/2012/main" userId="S::bp_peeta@blr.amrita.edu::d5d7df4c-1c7c-46ba-b2e6-049fb9603be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941651"/>
    <a:srgbClr val="FF2F92"/>
    <a:srgbClr val="C11D6B"/>
    <a:srgbClr val="E28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049F87-1EF1-E46A-2B4D-2898E99920A1}" v="1288" dt="2026-05-19T19:15:08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1" autoAdjust="0"/>
    <p:restoredTop sz="91032" autoAdjust="0"/>
  </p:normalViewPr>
  <p:slideViewPr>
    <p:cSldViewPr snapToGrid="0">
      <p:cViewPr varScale="1">
        <p:scale>
          <a:sx n="87" d="100"/>
          <a:sy n="87" d="100"/>
        </p:scale>
        <p:origin x="31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653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5132C-7AEA-46B0-9DD9-D47F6E539655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AD2A3-E9C6-476E-B11D-5EF9B3239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762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B6C7D-3E6B-45A8-92D7-7F3061616A51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8BD47-A728-4C15-ACCB-72F396859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6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E8BD47-A728-4C15-ACCB-72F3968591F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9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E8BD47-A728-4C15-ACCB-72F3968591F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2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401C-3D73-9145-9D27-022775352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FC3C5-2E28-584B-9E08-C350F0473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1AA21-1AC4-EE4A-9EE6-2CF24966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26A89-F6F6-594C-B1D8-D2FE52E1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BD8-565B-E441-A71D-873F53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3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137256"/>
            <a:ext cx="11436823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194" y="348661"/>
            <a:ext cx="11436823" cy="421441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77655"/>
            <a:ext cx="12218977" cy="478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D13F47-3531-4371-B8DB-59E457D073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254" y="6520072"/>
            <a:ext cx="1262820" cy="283912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274973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0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015E1-575C-CC43-8E0C-38A94C0D0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0D65-9225-7C42-BE9D-7E7ACD23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D5A4A-C107-8941-A91D-265C67035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48F1F-AA4B-E44F-87CA-30B4D3D4B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Computing, Bengaluru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76259-99F7-DF4A-8A42-0737A8CCE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4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0" y="-991055"/>
            <a:ext cx="12192000" cy="787763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4400" dirty="0">
              <a:solidFill>
                <a:prstClr val="white"/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797" y="5162687"/>
            <a:ext cx="4590899" cy="1510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776D66-1F2F-B348-8DC7-42BD5D86556D}"/>
              </a:ext>
            </a:extLst>
          </p:cNvPr>
          <p:cNvSpPr txBox="1"/>
          <p:nvPr/>
        </p:nvSpPr>
        <p:spPr>
          <a:xfrm>
            <a:off x="7120709" y="5170679"/>
            <a:ext cx="480383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400"/>
            <a:r>
              <a:rPr lang="en-US">
                <a:solidFill>
                  <a:prstClr val="white"/>
                </a:solidFill>
                <a:latin typeface="Georgia"/>
              </a:rPr>
              <a:t>Group No: 3</a:t>
            </a:r>
            <a:endParaRPr lang="en-US" dirty="0">
              <a:solidFill>
                <a:prstClr val="white"/>
              </a:solidFill>
              <a:latin typeface="Georgia" panose="02040502050405020303" pitchFamily="18" charset="0"/>
            </a:endParaRPr>
          </a:p>
          <a:p>
            <a:pPr defTabSz="914400"/>
            <a:r>
              <a:rPr lang="en-US" dirty="0">
                <a:solidFill>
                  <a:prstClr val="white"/>
                </a:solidFill>
                <a:latin typeface="Georgia"/>
              </a:rPr>
              <a:t>BL.SC.P2DSC25002 AKHIL </a:t>
            </a:r>
            <a:r>
              <a:rPr lang="en-US">
                <a:solidFill>
                  <a:prstClr val="white"/>
                </a:solidFill>
                <a:latin typeface="Georgia"/>
              </a:rPr>
              <a:t>SEBASTIAN</a:t>
            </a:r>
            <a:endParaRPr lang="en-US" dirty="0">
              <a:solidFill>
                <a:prstClr val="white"/>
              </a:solidFill>
              <a:latin typeface="Georgia" panose="02040502050405020303" pitchFamily="18" charset="0"/>
            </a:endParaRPr>
          </a:p>
          <a:p>
            <a:pPr defTabSz="914400"/>
            <a:r>
              <a:rPr lang="en-US">
                <a:solidFill>
                  <a:prstClr val="white"/>
                </a:solidFill>
                <a:latin typeface="Georgia"/>
              </a:rPr>
              <a:t>BL.SC.P2DSC25005 ALLWIN SURESH</a:t>
            </a:r>
            <a:endParaRPr lang="en-US" dirty="0">
              <a:solidFill>
                <a:prstClr val="white"/>
              </a:solidFill>
              <a:latin typeface="Georgia" panose="02040502050405020303" pitchFamily="18" charset="0"/>
            </a:endParaRPr>
          </a:p>
          <a:p>
            <a:pPr defTabSz="914400"/>
            <a:endParaRPr lang="en-US" dirty="0">
              <a:solidFill>
                <a:prstClr val="white"/>
              </a:solidFill>
              <a:latin typeface="Georgia" panose="02040502050405020303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6917203" y="5118727"/>
            <a:ext cx="0" cy="147869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6A3B953-744B-3D4F-8898-C0158B157C87}"/>
              </a:ext>
            </a:extLst>
          </p:cNvPr>
          <p:cNvSpPr/>
          <p:nvPr/>
        </p:nvSpPr>
        <p:spPr>
          <a:xfrm>
            <a:off x="414342" y="838159"/>
            <a:ext cx="11487140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defTabSz="914400"/>
            <a:r>
              <a:rPr lang="en-US" sz="4800" b="1">
                <a:solidFill>
                  <a:prstClr val="white"/>
                </a:solidFill>
                <a:latin typeface="Times New Roman"/>
                <a:ea typeface="+mn-lt"/>
                <a:cs typeface="Times New Roman"/>
              </a:rPr>
              <a:t>Faithful Abstractive Malayalam Summarization: Comparative Evaluation of Transformer Models with Hallucination Analysis</a:t>
            </a:r>
            <a:endParaRPr lang="en-US" sz="4800" b="1"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827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55A77D-7B36-3147-818D-85AAFF957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Introduction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Literature Survey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Literature Survey Summary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Research Gaps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Dataset Description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Methodology 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Experimental Configurations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Parameter Settings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Evaluation Measures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Results and Analysis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Best Model Discussion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Error Analysis</a:t>
            </a: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Conclusion and Future Work</a:t>
            </a:r>
          </a:p>
          <a:p>
            <a:pPr marL="0" indent="0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89A6B5-C0F5-5944-9623-D5C1946E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01E1A-277C-C44B-A7BD-A6BF0E44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56" y="6478751"/>
            <a:ext cx="758687" cy="365125"/>
          </a:xfrm>
        </p:spPr>
        <p:txBody>
          <a:bodyPr/>
          <a:lstStyle/>
          <a:p>
            <a:fld id="{71766878-3199-4EAB-94E7-2D6D11070E1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</a:p>
        </p:txBody>
      </p:sp>
    </p:spTree>
    <p:extLst>
      <p:ext uri="{BB962C8B-B14F-4D97-AF65-F5344CB8AC3E}">
        <p14:creationId xmlns:p14="http://schemas.microsoft.com/office/powerpoint/2010/main" val="343240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956" y="6478751"/>
            <a:ext cx="758687" cy="365125"/>
          </a:xfrm>
        </p:spPr>
        <p:txBody>
          <a:bodyPr/>
          <a:lstStyle/>
          <a:p>
            <a:fld id="{71766878-3199-4EAB-94E7-2D6D11070E1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0" name="Title 3"/>
          <p:cNvSpPr txBox="1">
            <a:spLocks/>
          </p:cNvSpPr>
          <p:nvPr/>
        </p:nvSpPr>
        <p:spPr>
          <a:xfrm>
            <a:off x="482346" y="274638"/>
            <a:ext cx="8261604" cy="7525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3600" b="1">
                <a:latin typeface="Times New Roman"/>
                <a:cs typeface="Times New Roman"/>
              </a:rPr>
              <a:t>Introduction</a:t>
            </a:r>
            <a:endParaRPr lang="en-IN" sz="3600" b="1">
              <a:latin typeface="Times New Roman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71847-AD77-6F50-E32D-95745C99B0D5}"/>
              </a:ext>
            </a:extLst>
          </p:cNvPr>
          <p:cNvSpPr txBox="1"/>
          <p:nvPr/>
        </p:nvSpPr>
        <p:spPr>
          <a:xfrm>
            <a:off x="487680" y="1118616"/>
            <a:ext cx="10948416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Automatic text summarization helps condense large textual content into concise and meaningful summaries.</a:t>
            </a:r>
            <a:endParaRPr lang="en-US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Abstractive summarization generates new human-like summaries instead of directly extracting sentences.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Transformer-based models have significantly improved multilingual summarization performance.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However, low-resource languages like Malayalam remain underexplored due to limited benchmark datasets and weaker task-specific adaptation.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A major challenge in abstractive summarization is </a:t>
            </a:r>
            <a:r>
              <a:rPr lang="en-US" sz="2400" b="1" dirty="0">
                <a:latin typeface="Times New Roman"/>
                <a:cs typeface="Times New Roman"/>
              </a:rPr>
              <a:t>hallucination</a:t>
            </a:r>
            <a:r>
              <a:rPr lang="en-US" sz="2400" dirty="0">
                <a:latin typeface="Times New Roman"/>
                <a:cs typeface="Times New Roman"/>
              </a:rPr>
              <a:t>, where generated summaries contain unsupported or factually incorrect information.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Ensuring both summary quality and factual reliability is essential for trustworthy real-world summarization systems.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285750" indent="-285750" algn="ctr">
              <a:buFont typeface="Arial"/>
              <a:buChar char="•"/>
            </a:pPr>
            <a:endParaRPr lang="en-US" sz="24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643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18F4C0-6EF6-3F5B-C0DA-4EFE5F2F0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Existing Malayalam summarization research primarily focuses on summary generation quality, with limited emphasis on factual consistency.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Conventional metrics such as ROUGE and BLEU measure lexical overlap but fail to capture hallucinated content effectively.</a:t>
            </a:r>
          </a:p>
          <a:p>
            <a:r>
              <a:rPr lang="en-US" dirty="0">
                <a:latin typeface="Times New Roman"/>
                <a:cs typeface="Times New Roman"/>
              </a:rPr>
              <a:t>Performance differences between </a:t>
            </a:r>
            <a:r>
              <a:rPr lang="en-US" b="1" dirty="0">
                <a:latin typeface="Times New Roman"/>
                <a:cs typeface="Times New Roman"/>
              </a:rPr>
              <a:t>zero-shot, few-shot, fine-tuned, and retrieval-augmented transformer </a:t>
            </a:r>
            <a:r>
              <a:rPr lang="en-US" b="1" dirty="0" err="1">
                <a:latin typeface="Times New Roman"/>
                <a:cs typeface="Times New Roman"/>
              </a:rPr>
              <a:t>models</a:t>
            </a:r>
            <a:r>
              <a:rPr lang="en-US" dirty="0" err="1">
                <a:latin typeface="Times New Roman"/>
                <a:cs typeface="Times New Roman"/>
              </a:rPr>
              <a:t>for</a:t>
            </a:r>
            <a:r>
              <a:rPr lang="en-US" dirty="0">
                <a:latin typeface="Times New Roman"/>
                <a:cs typeface="Times New Roman"/>
              </a:rPr>
              <a:t> Malayalam summarization remain insufficiently explored.</a:t>
            </a:r>
          </a:p>
          <a:p>
            <a:r>
              <a:rPr lang="en-US">
                <a:latin typeface="Times New Roman"/>
                <a:cs typeface="Times New Roman"/>
              </a:rPr>
              <a:t>There is a need for a comparative framework that evaluates both </a:t>
            </a:r>
            <a:r>
              <a:rPr lang="en-US" b="1">
                <a:latin typeface="Times New Roman"/>
                <a:cs typeface="Times New Roman"/>
              </a:rPr>
              <a:t>summarization quality and hallucination-aware factual reliability</a:t>
            </a:r>
            <a:r>
              <a:rPr lang="en-US">
                <a:latin typeface="Times New Roman"/>
                <a:cs typeface="Times New Roman"/>
              </a:rPr>
              <a:t> for low-resource Malayalam abstractive summarization.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3BB846-30C0-4A92-0A27-E721CCA7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B512A-B7F6-6C94-62FE-92C0A63D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B86DF-9E5F-80A9-4A55-051BEB90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7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B97990-B433-11B3-02D4-7A9E74ACB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To develop a comparative framework for </a:t>
            </a:r>
            <a:r>
              <a:rPr lang="en-US" sz="2000" b="1">
                <a:latin typeface="Times New Roman"/>
                <a:cs typeface="Times New Roman"/>
              </a:rPr>
              <a:t>Malayalam abstractive text summarization.</a:t>
            </a:r>
            <a:endParaRPr lang="en-US" sz="2000"/>
          </a:p>
          <a:p>
            <a:r>
              <a:rPr lang="en-US" sz="2000">
                <a:latin typeface="Times New Roman"/>
                <a:cs typeface="Times New Roman"/>
              </a:rPr>
              <a:t>To evaluate models</a:t>
            </a:r>
            <a:r>
              <a:rPr lang="en-US" sz="2000" dirty="0">
                <a:latin typeface="Times New Roman"/>
                <a:cs typeface="Times New Roman"/>
              </a:rPr>
              <a:t> across different experimental settings:</a:t>
            </a:r>
            <a:endParaRPr lang="en-US" sz="2000"/>
          </a:p>
          <a:p>
            <a:pPr lvl="1"/>
            <a:r>
              <a:rPr lang="en-US" sz="1800">
                <a:latin typeface="Times New Roman"/>
                <a:cs typeface="Times New Roman"/>
              </a:rPr>
              <a:t>Zero-shot prompting</a:t>
            </a:r>
          </a:p>
          <a:p>
            <a:pPr lvl="1"/>
            <a:r>
              <a:rPr lang="en-US" sz="1800">
                <a:latin typeface="Times New Roman"/>
                <a:cs typeface="Times New Roman"/>
              </a:rPr>
              <a:t>Two-shot prompting</a:t>
            </a:r>
          </a:p>
          <a:p>
            <a:pPr lvl="1"/>
            <a:r>
              <a:rPr lang="en-US" sz="1800">
                <a:latin typeface="Times New Roman"/>
                <a:cs typeface="Times New Roman"/>
              </a:rPr>
              <a:t>Supervised fine-tuning</a:t>
            </a:r>
          </a:p>
          <a:p>
            <a:pPr lvl="1"/>
            <a:r>
              <a:rPr lang="en-US" sz="1800">
                <a:latin typeface="Times New Roman"/>
                <a:cs typeface="Times New Roman"/>
              </a:rPr>
              <a:t>Retrieval-Augmented Generation (RAG)</a:t>
            </a:r>
          </a:p>
          <a:p>
            <a:r>
              <a:rPr lang="en-US" sz="2000">
                <a:latin typeface="Times New Roman"/>
                <a:cs typeface="Times New Roman"/>
              </a:rPr>
              <a:t>To assess summarization quality using standard metrics.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To analyze factual reliability using </a:t>
            </a:r>
            <a:r>
              <a:rPr lang="en-US" sz="2000" b="1">
                <a:latin typeface="Times New Roman"/>
                <a:cs typeface="Times New Roman"/>
              </a:rPr>
              <a:t>hallucination-aware evaluation metrics</a:t>
            </a:r>
            <a:r>
              <a:rPr lang="en-US" sz="2000">
                <a:latin typeface="Times New Roman"/>
                <a:cs typeface="Times New Roman"/>
              </a:rPr>
              <a:t>, including faithfulness, context precision, context recall, and hallucination score.</a:t>
            </a:r>
            <a:endParaRPr lang="en-US" sz="2000"/>
          </a:p>
          <a:p>
            <a:r>
              <a:rPr lang="en-US" sz="2000" dirty="0">
                <a:latin typeface="Times New Roman"/>
                <a:cs typeface="Times New Roman"/>
              </a:rPr>
              <a:t>To identify the most effective model configuration for </a:t>
            </a:r>
            <a:r>
              <a:rPr lang="en-US" sz="2000" b="1" dirty="0">
                <a:latin typeface="Times New Roman"/>
                <a:cs typeface="Times New Roman"/>
              </a:rPr>
              <a:t>faithful abstractive Malayalam summarization</a:t>
            </a:r>
            <a:r>
              <a:rPr lang="en-US" sz="2000" dirty="0">
                <a:latin typeface="Times New Roman"/>
                <a:cs typeface="Times New Roman"/>
              </a:rPr>
              <a:t> in low-resource settings.</a:t>
            </a: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7A1D35-1B15-4E9C-8829-23122FBCE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3569F-3AB9-6C60-3D36-4FBC9E07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CCAB5-8660-8A73-9034-30FE0F3C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474A8E8-E4AF-3E63-4D07-511A7E8CD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864513"/>
              </p:ext>
            </p:extLst>
          </p:nvPr>
        </p:nvGraphicFramePr>
        <p:xfrm>
          <a:off x="341376" y="768096"/>
          <a:ext cx="11436344" cy="55778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59086">
                  <a:extLst>
                    <a:ext uri="{9D8B030D-6E8A-4147-A177-3AD203B41FA5}">
                      <a16:colId xmlns:a16="http://schemas.microsoft.com/office/drawing/2014/main" val="1693650712"/>
                    </a:ext>
                  </a:extLst>
                </a:gridCol>
                <a:gridCol w="2859086">
                  <a:extLst>
                    <a:ext uri="{9D8B030D-6E8A-4147-A177-3AD203B41FA5}">
                      <a16:colId xmlns:a16="http://schemas.microsoft.com/office/drawing/2014/main" val="1254299639"/>
                    </a:ext>
                  </a:extLst>
                </a:gridCol>
                <a:gridCol w="2859086">
                  <a:extLst>
                    <a:ext uri="{9D8B030D-6E8A-4147-A177-3AD203B41FA5}">
                      <a16:colId xmlns:a16="http://schemas.microsoft.com/office/drawing/2014/main" val="1397969231"/>
                    </a:ext>
                  </a:extLst>
                </a:gridCol>
                <a:gridCol w="2859086">
                  <a:extLst>
                    <a:ext uri="{9D8B030D-6E8A-4147-A177-3AD203B41FA5}">
                      <a16:colId xmlns:a16="http://schemas.microsoft.com/office/drawing/2014/main" val="2413704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Reference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What Was Done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Techniques / Models Used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Limitations Identified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03291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Nambiar &amp; Sindhya (2021)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Developed Malayalam abstractive summarization framework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Attention-based encoder-decoder Seq2Seq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Traditional architecture; limited scalability compared to transformers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1816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Nambiar (2023)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Improved Malayalam summarization with linguistic enhancement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Attention model + POS tagging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No transformer comparison; limited generalization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39506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Social-Sum-Mal (2024)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Introduced benchmark Malayalam summarization dataset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Dataset creation for article-summary pairs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Focused on dataset contribution, not comparative model evaluation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9469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Parikh et al. (2025)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Surveyed multilingual summarization methods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Transformer-based multilingual review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Review only; no Malayalam-specific experimentation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9739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Tanev et al. (2025)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Times New Roman"/>
                          <a:cs typeface="Times New Roman"/>
                        </a:rPr>
                        <a:t>Evaluated </a:t>
                      </a:r>
                      <a:r>
                        <a:rPr lang="en-US" dirty="0" err="1">
                          <a:effectLst/>
                          <a:latin typeface="Times New Roman"/>
                          <a:cs typeface="Times New Roman"/>
                        </a:rPr>
                        <a:t>LLaMA</a:t>
                      </a:r>
                      <a:r>
                        <a:rPr lang="en-US" dirty="0">
                          <a:effectLst/>
                          <a:latin typeface="Times New Roman"/>
                          <a:cs typeface="Times New Roman"/>
                        </a:rPr>
                        <a:t> for Malayalam summarization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  <a:latin typeface="Times New Roman"/>
                          <a:cs typeface="Times New Roman"/>
                        </a:rPr>
                        <a:t>LLaMA</a:t>
                      </a:r>
                      <a:r>
                        <a:rPr lang="en-US" dirty="0">
                          <a:effectLst/>
                          <a:latin typeface="Times New Roman"/>
                          <a:cs typeface="Times New Roman"/>
                        </a:rPr>
                        <a:t>-based LLM summarization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Limited hallucination analysis; no broad model comparison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8723941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13B1735-89C0-D5F6-5117-7B5E8929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Literature Survey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861FA-4A59-0057-8C3F-23DA5E18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F6DA7-F2B9-0209-A444-01686B64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2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0E04029-D9BA-5D4D-CF21-04AB44CFB3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1484505"/>
              </p:ext>
            </p:extLst>
          </p:nvPr>
        </p:nvGraphicFramePr>
        <p:xfrm>
          <a:off x="341313" y="1136650"/>
          <a:ext cx="11436348" cy="39319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59087">
                  <a:extLst>
                    <a:ext uri="{9D8B030D-6E8A-4147-A177-3AD203B41FA5}">
                      <a16:colId xmlns:a16="http://schemas.microsoft.com/office/drawing/2014/main" val="808792891"/>
                    </a:ext>
                  </a:extLst>
                </a:gridCol>
                <a:gridCol w="2859087">
                  <a:extLst>
                    <a:ext uri="{9D8B030D-6E8A-4147-A177-3AD203B41FA5}">
                      <a16:colId xmlns:a16="http://schemas.microsoft.com/office/drawing/2014/main" val="519810885"/>
                    </a:ext>
                  </a:extLst>
                </a:gridCol>
                <a:gridCol w="2859087">
                  <a:extLst>
                    <a:ext uri="{9D8B030D-6E8A-4147-A177-3AD203B41FA5}">
                      <a16:colId xmlns:a16="http://schemas.microsoft.com/office/drawing/2014/main" val="3790159836"/>
                    </a:ext>
                  </a:extLst>
                </a:gridCol>
                <a:gridCol w="2859087">
                  <a:extLst>
                    <a:ext uri="{9D8B030D-6E8A-4147-A177-3AD203B41FA5}">
                      <a16:colId xmlns:a16="http://schemas.microsoft.com/office/drawing/2014/main" val="740841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Reference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What Was Done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Techniques / Models Used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Limitations Identified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27946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Prabhakar et al. (2022)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Summarization of Indian legal judgments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Transformer abstractive summarization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Domain-specific; not Malayalam-focused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8767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Gangadharan et al. (2016)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Early abstractive summarization framework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Graph-based conceptual mining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Traditional non-transformer approach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28099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Chandu et al. (2019)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Query-based text summarization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Extractive summarization methods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Not abstractive; limited semantic generation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16327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Ramachandran et al. (2023)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Medical document summarization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Summarization + image decomposition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Domain constrained; no multilingual focus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63355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B. M. G et al. (2023)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Fine-tuned transformers for news summarization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Pretrained transformer fine-tuning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No hallucination/factual consistency evaluation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9075266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28496ED-6A67-8CE0-A661-26B1ED16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Literature Survey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65A43-EC03-CD74-CE11-F1025A5BE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4B431-5EC4-3280-E077-C604A6DE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937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AC4CE3-375F-B234-1A1E-F72D2DEDB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Early Malayalam summarization research primarily relied on </a:t>
            </a:r>
            <a:r>
              <a:rPr lang="en-US" sz="2000" b="1" dirty="0">
                <a:latin typeface="Times New Roman"/>
                <a:cs typeface="Times New Roman"/>
              </a:rPr>
              <a:t>traditional attention-based and linguistic feature-enhanced neural models</a:t>
            </a:r>
            <a:r>
              <a:rPr lang="en-US" sz="2000" dirty="0">
                <a:latin typeface="Times New Roman"/>
                <a:cs typeface="Times New Roman"/>
              </a:rPr>
              <a:t>, demonstrating feasibility but limited scalability.</a:t>
            </a:r>
          </a:p>
          <a:p>
            <a:r>
              <a:rPr lang="en-US" sz="2000">
                <a:latin typeface="Times New Roman"/>
                <a:cs typeface="Times New Roman"/>
              </a:rPr>
              <a:t>Recent studies shifted toward </a:t>
            </a:r>
            <a:r>
              <a:rPr lang="en-US" sz="2000" b="1">
                <a:latin typeface="Times New Roman"/>
                <a:cs typeface="Times New Roman"/>
              </a:rPr>
              <a:t>transformer-based and large language models</a:t>
            </a:r>
            <a:r>
              <a:rPr lang="en-US" sz="2000">
                <a:latin typeface="Times New Roman"/>
                <a:cs typeface="Times New Roman"/>
              </a:rPr>
              <a:t>, improving multilingual summarization capability and contextual understanding.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Benchmark dataset availability improved with the introduction of </a:t>
            </a:r>
            <a:r>
              <a:rPr lang="en-US" sz="2000" b="1">
                <a:latin typeface="Times New Roman"/>
                <a:cs typeface="Times New Roman"/>
              </a:rPr>
              <a:t>Social-Sum-Mal</a:t>
            </a:r>
            <a:r>
              <a:rPr lang="en-US" sz="2000">
                <a:latin typeface="Times New Roman"/>
                <a:cs typeface="Times New Roman"/>
              </a:rPr>
              <a:t>, enabling standardized Malayalam summarization experimentation.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Existing research has explored summarization in specialized domains such as </a:t>
            </a:r>
            <a:r>
              <a:rPr lang="en-US" sz="2000" b="1" dirty="0">
                <a:latin typeface="Times New Roman"/>
                <a:cs typeface="Times New Roman"/>
              </a:rPr>
              <a:t>news, legal, and medical documents</a:t>
            </a:r>
            <a:r>
              <a:rPr lang="en-US" sz="2000" dirty="0">
                <a:latin typeface="Times New Roman"/>
                <a:cs typeface="Times New Roman"/>
              </a:rPr>
              <a:t>, but comparative evaluation across multiple transformer paradigms remain limited.</a:t>
            </a:r>
          </a:p>
          <a:p>
            <a:r>
              <a:rPr lang="en-US" sz="2000">
                <a:latin typeface="Times New Roman"/>
                <a:cs typeface="Times New Roman"/>
              </a:rPr>
              <a:t>Most prior work focuses on </a:t>
            </a:r>
            <a:r>
              <a:rPr lang="en-US" sz="2000" b="1">
                <a:latin typeface="Times New Roman"/>
                <a:cs typeface="Times New Roman"/>
              </a:rPr>
              <a:t>summary quality metrics</a:t>
            </a:r>
            <a:r>
              <a:rPr lang="en-US" sz="2000">
                <a:latin typeface="Times New Roman"/>
                <a:cs typeface="Times New Roman"/>
              </a:rPr>
              <a:t>, with insufficient attention to </a:t>
            </a:r>
            <a:r>
              <a:rPr lang="en-US" sz="2000" b="1">
                <a:latin typeface="Times New Roman"/>
                <a:cs typeface="Times New Roman"/>
              </a:rPr>
              <a:t>hallucination detection, factual consistency, and reliability assessment</a:t>
            </a:r>
            <a:r>
              <a:rPr lang="en-US" sz="2000">
                <a:latin typeface="Times New Roman"/>
                <a:cs typeface="Times New Roman"/>
              </a:rPr>
              <a:t> in low-resource Malayalam summarization.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B969A4-5CF9-DFBC-5E89-37B9BC4FE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Literature Survey 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612DD-C034-F2F5-7C16-F2825F38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42EBE-0179-99E1-8005-D3446AF0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387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EE476D-F314-B17A-0536-B6953F5B3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latin typeface="Georgia"/>
              </a:rPr>
              <a:t>Existing Malayalam summarization studies primarily focus on </a:t>
            </a:r>
            <a:r>
              <a:rPr lang="en-US" sz="2000" b="1">
                <a:latin typeface="Georgia"/>
              </a:rPr>
              <a:t>traditional neural models or isolated transformer-based approaches</a:t>
            </a:r>
            <a:r>
              <a:rPr lang="en-US" sz="2000">
                <a:latin typeface="Georgia"/>
              </a:rPr>
              <a:t>, with no comprehensive comparison across multiple modern architectures.</a:t>
            </a:r>
            <a:endParaRPr lang="en-US" sz="2000" dirty="0">
              <a:latin typeface="Georgia"/>
            </a:endParaRPr>
          </a:p>
          <a:p>
            <a:r>
              <a:rPr lang="en-US" sz="2000" dirty="0">
                <a:latin typeface="Georgia"/>
              </a:rPr>
              <a:t>Prior research largely evaluates </a:t>
            </a:r>
            <a:r>
              <a:rPr lang="en-US" sz="2000" b="1" dirty="0">
                <a:latin typeface="Georgia"/>
              </a:rPr>
              <a:t>summary quality using lexical metrics</a:t>
            </a:r>
            <a:r>
              <a:rPr lang="en-US" sz="2000" dirty="0">
                <a:latin typeface="Georgia"/>
              </a:rPr>
              <a:t>, while </a:t>
            </a:r>
            <a:r>
              <a:rPr lang="en-US" sz="2000" b="1" dirty="0">
                <a:latin typeface="Georgia"/>
              </a:rPr>
              <a:t>hallucination detection and factual consistency analysis remain insufficiently explored</a:t>
            </a:r>
            <a:r>
              <a:rPr lang="en-US" sz="2000" dirty="0">
                <a:latin typeface="Georgia"/>
              </a:rPr>
              <a:t>.</a:t>
            </a:r>
          </a:p>
          <a:p>
            <a:r>
              <a:rPr lang="en-US" sz="2000">
                <a:latin typeface="Georgia"/>
              </a:rPr>
              <a:t>Comparative analysis of different inference strategies such as </a:t>
            </a:r>
            <a:r>
              <a:rPr lang="en-US" sz="2000" b="1">
                <a:latin typeface="Georgia"/>
              </a:rPr>
              <a:t>zero-shot prompting, few-shot prompting, supervised fine-tuning, and retrieval-augmented generation (RAG)</a:t>
            </a:r>
            <a:r>
              <a:rPr lang="en-US" sz="2000">
                <a:latin typeface="Georgia"/>
              </a:rPr>
              <a:t> is lacking for Malayalam summarization.</a:t>
            </a:r>
            <a:endParaRPr lang="en-US" sz="2000" dirty="0">
              <a:latin typeface="Georgia"/>
            </a:endParaRPr>
          </a:p>
          <a:p>
            <a:r>
              <a:rPr lang="en-US" sz="2000" dirty="0">
                <a:latin typeface="Georgia"/>
              </a:rPr>
              <a:t>The effectiveness of </a:t>
            </a:r>
            <a:r>
              <a:rPr lang="en-US" sz="2000" b="1" dirty="0">
                <a:latin typeface="Georgia"/>
              </a:rPr>
              <a:t>modern multilingual transformer and instruction-tuned models</a:t>
            </a:r>
            <a:r>
              <a:rPr lang="en-US" sz="2000" dirty="0">
                <a:latin typeface="Georgia"/>
              </a:rPr>
              <a:t> for faithful low-resource Malayalam summarization remains unclear.</a:t>
            </a:r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6EB5AC-16BC-C1E3-DB24-B6EF12C67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Research Gap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DD419-B532-9F8D-A804-029CD930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E3EFE-3D3F-C9D0-2DAC-320DA38A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016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2F41B1-96E8-D5B2-57C6-B37C9BB18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Dataset Description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This study combines </a:t>
            </a:r>
            <a:r>
              <a:rPr lang="en-US" sz="2000" b="1">
                <a:latin typeface="Times New Roman"/>
                <a:cs typeface="Times New Roman"/>
              </a:rPr>
              <a:t>two Malayalam abstractive summarization datasets</a:t>
            </a:r>
            <a:r>
              <a:rPr lang="en-US" sz="2000">
                <a:latin typeface="Times New Roman"/>
                <a:cs typeface="Times New Roman"/>
              </a:rPr>
              <a:t> to construct a larger and more diverse benchmark corpus for training and evaluation.</a:t>
            </a:r>
          </a:p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Dataset Sources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739DAB-432A-0EA3-5519-03BA1795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Dataset 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9C74D-8ECD-2FC9-3E76-1D283899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435E5-49BA-041F-A8C0-964168CB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196397-8054-D024-2EA7-47923DC5A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413786"/>
              </p:ext>
            </p:extLst>
          </p:nvPr>
        </p:nvGraphicFramePr>
        <p:xfrm>
          <a:off x="341376" y="2666421"/>
          <a:ext cx="11542755" cy="1762584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85689">
                  <a:extLst>
                    <a:ext uri="{9D8B030D-6E8A-4147-A177-3AD203B41FA5}">
                      <a16:colId xmlns:a16="http://schemas.microsoft.com/office/drawing/2014/main" val="4131674534"/>
                    </a:ext>
                  </a:extLst>
                </a:gridCol>
                <a:gridCol w="1242689">
                  <a:extLst>
                    <a:ext uri="{9D8B030D-6E8A-4147-A177-3AD203B41FA5}">
                      <a16:colId xmlns:a16="http://schemas.microsoft.com/office/drawing/2014/main" val="1149526241"/>
                    </a:ext>
                  </a:extLst>
                </a:gridCol>
                <a:gridCol w="4161840">
                  <a:extLst>
                    <a:ext uri="{9D8B030D-6E8A-4147-A177-3AD203B41FA5}">
                      <a16:colId xmlns:a16="http://schemas.microsoft.com/office/drawing/2014/main" val="1435987856"/>
                    </a:ext>
                  </a:extLst>
                </a:gridCol>
                <a:gridCol w="3252537">
                  <a:extLst>
                    <a:ext uri="{9D8B030D-6E8A-4147-A177-3AD203B41FA5}">
                      <a16:colId xmlns:a16="http://schemas.microsoft.com/office/drawing/2014/main" val="4011090549"/>
                    </a:ext>
                  </a:extLst>
                </a:gridCol>
              </a:tblGrid>
              <a:tr h="604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/>
                          <a:cs typeface="Times New Roman"/>
                        </a:rPr>
                        <a:t>Dataset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/>
                          <a:cs typeface="Times New Roman"/>
                        </a:rPr>
                        <a:t>Original Samples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/>
                          <a:cs typeface="Times New Roman"/>
                        </a:rPr>
                        <a:t>Available Columns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/>
                          <a:cs typeface="Times New Roman"/>
                        </a:rPr>
                        <a:t>Selected Columns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3393030"/>
                  </a:ext>
                </a:extLst>
              </a:tr>
              <a:tr h="573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Social-Sum-Mal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2,000</a:t>
                      </a:r>
                      <a:endParaRPr lang="en-US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effectLst/>
                          <a:latin typeface="Times New Roman"/>
                          <a:cs typeface="Times New Roman"/>
                        </a:rPr>
                        <a:t>chapter_no</a:t>
                      </a:r>
                      <a:r>
                        <a:rPr lang="en-US" sz="1400" dirty="0">
                          <a:effectLst/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lang="en-US" sz="1400" dirty="0" err="1">
                          <a:effectLst/>
                          <a:latin typeface="Times New Roman"/>
                          <a:cs typeface="Times New Roman"/>
                        </a:rPr>
                        <a:t>para_no</a:t>
                      </a:r>
                      <a:r>
                        <a:rPr lang="en-US" sz="1400" dirty="0">
                          <a:effectLst/>
                          <a:latin typeface="Times New Roman"/>
                          <a:cs typeface="Times New Roman"/>
                        </a:rPr>
                        <a:t>, heading, input, </a:t>
                      </a:r>
                      <a:r>
                        <a:rPr lang="en-US" sz="1400" dirty="0" err="1">
                          <a:effectLst/>
                          <a:latin typeface="Times New Roman"/>
                          <a:cs typeface="Times New Roman"/>
                        </a:rPr>
                        <a:t>long_summary</a:t>
                      </a:r>
                      <a:r>
                        <a:rPr lang="en-US" sz="1400" dirty="0">
                          <a:effectLst/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lang="en-US" sz="1400" dirty="0" err="1">
                          <a:effectLst/>
                          <a:latin typeface="Times New Roman"/>
                          <a:cs typeface="Times New Roman"/>
                        </a:rPr>
                        <a:t>extreme_summary</a:t>
                      </a:r>
                      <a:r>
                        <a:rPr lang="en-US" sz="1400" dirty="0">
                          <a:effectLst/>
                          <a:latin typeface="Times New Roman"/>
                          <a:cs typeface="Times New Roman"/>
                        </a:rPr>
                        <a:t>, query, </a:t>
                      </a:r>
                      <a:r>
                        <a:rPr lang="en-US" sz="1400" dirty="0" err="1">
                          <a:effectLst/>
                          <a:latin typeface="Times New Roman"/>
                          <a:cs typeface="Times New Roman"/>
                        </a:rPr>
                        <a:t>answer_summary</a:t>
                      </a:r>
                      <a:r>
                        <a:rPr lang="en-US" sz="1400" dirty="0">
                          <a:effectLst/>
                          <a:latin typeface="Times New Roman"/>
                          <a:cs typeface="Times New Roman"/>
                        </a:rPr>
                        <a:t>, topic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/>
                          <a:cs typeface="Times New Roman"/>
                        </a:rPr>
                        <a:t>input, </a:t>
                      </a:r>
                      <a:r>
                        <a:rPr lang="en-US" sz="1400" dirty="0" err="1">
                          <a:effectLst/>
                          <a:latin typeface="Times New Roman"/>
                          <a:cs typeface="Times New Roman"/>
                        </a:rPr>
                        <a:t>long_summary</a:t>
                      </a:r>
                      <a:endParaRPr lang="en-US" sz="14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06425598"/>
                  </a:ext>
                </a:extLst>
              </a:tr>
              <a:tr h="467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AI4Bharat Malayalam Sentence Summarization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~16,000+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id, Sentence, Summary, URL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Sentence, Summary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213832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B332EE-0689-57A4-384C-EDF172365D8B}"/>
              </a:ext>
            </a:extLst>
          </p:cNvPr>
          <p:cNvSpPr txBox="1"/>
          <p:nvPr/>
        </p:nvSpPr>
        <p:spPr>
          <a:xfrm>
            <a:off x="341376" y="4599432"/>
            <a:ext cx="1185062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Why These Columns?</a:t>
            </a:r>
            <a:endParaRPr lang="en-US" sz="2000" b="1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Social-Sum-Mal contains multiple summary formats.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Long summary</a:t>
            </a:r>
            <a:r>
              <a:rPr lang="en-US" sz="2000" dirty="0">
                <a:latin typeface="Times New Roman"/>
                <a:cs typeface="Times New Roman"/>
              </a:rPr>
              <a:t> was selected to maintain consistency with standard abstractive summarization.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AI4Bharat already provides direct article-summary pairs.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285750" indent="-285750" algn="ctr">
              <a:buFont typeface="Arial"/>
              <a:buChar char="•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0325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941791-D51A-D06E-A580-84BE48C01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875128"/>
            <a:ext cx="11436823" cy="51702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Times New Roman"/>
                <a:cs typeface="Times New Roman"/>
              </a:rPr>
              <a:t>Preprocessing Steps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Schema alignment across datasets</a:t>
            </a:r>
          </a:p>
          <a:p>
            <a:r>
              <a:rPr lang="en-US" sz="1600">
                <a:latin typeface="Times New Roman"/>
                <a:cs typeface="Times New Roman"/>
              </a:rPr>
              <a:t>Duplicate removal</a:t>
            </a:r>
          </a:p>
          <a:p>
            <a:r>
              <a:rPr lang="en-US" sz="1600">
                <a:latin typeface="Times New Roman"/>
                <a:cs typeface="Times New Roman"/>
              </a:rPr>
              <a:t>Missing value filtering</a:t>
            </a:r>
          </a:p>
          <a:p>
            <a:r>
              <a:rPr lang="en-US" sz="1600">
                <a:latin typeface="Times New Roman"/>
                <a:cs typeface="Times New Roman"/>
              </a:rPr>
              <a:t>Malayalam-only text filtering</a:t>
            </a:r>
          </a:p>
          <a:p>
            <a:r>
              <a:rPr lang="en-US" sz="1600">
                <a:latin typeface="Times New Roman"/>
                <a:cs typeface="Times New Roman"/>
              </a:rPr>
              <a:t>Removal of malformed/noisy entries</a:t>
            </a:r>
          </a:p>
          <a:p>
            <a:r>
              <a:rPr lang="en-US" sz="1600">
                <a:latin typeface="Times New Roman"/>
                <a:cs typeface="Times New Roman"/>
              </a:rPr>
              <a:t>Low-information sample filtering</a:t>
            </a:r>
          </a:p>
          <a:p>
            <a:r>
              <a:rPr lang="en-US" sz="1600">
                <a:latin typeface="Times New Roman"/>
                <a:cs typeface="Times New Roman"/>
              </a:rPr>
              <a:t>Text normalization</a:t>
            </a:r>
          </a:p>
          <a:p>
            <a:pPr marL="0" indent="0">
              <a:buNone/>
            </a:pPr>
            <a:r>
              <a:rPr lang="en-US" sz="1800" b="1">
                <a:latin typeface="Times New Roman"/>
                <a:cs typeface="Times New Roman"/>
              </a:rPr>
              <a:t>Final Dataset Statistics</a:t>
            </a:r>
            <a:endParaRPr lang="en-US" sz="1800">
              <a:latin typeface="Times New Roman"/>
              <a:cs typeface="Times New Roman"/>
            </a:endParaRPr>
          </a:p>
          <a:p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22FBA9-2EB7-FCAD-1723-0EE21B17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Dataset Preparation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A94FC-CE1B-AD74-76F4-E7ED00A6D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07135-45BA-5410-262B-EA2863DF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823179-134E-F40E-643B-32532EFD6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76633"/>
              </p:ext>
            </p:extLst>
          </p:nvPr>
        </p:nvGraphicFramePr>
        <p:xfrm>
          <a:off x="2731008" y="4059936"/>
          <a:ext cx="7467600" cy="2213389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1979980098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881389099"/>
                    </a:ext>
                  </a:extLst>
                </a:gridCol>
              </a:tblGrid>
              <a:tr h="384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/>
                          <a:cs typeface="Times New Roman"/>
                        </a:rPr>
                        <a:t>Metric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/>
                          <a:cs typeface="Times New Roman"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97531580"/>
                  </a:ext>
                </a:extLst>
              </a:tr>
              <a:tr h="36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Raw merged corpus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~18,000–20,000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10013693"/>
                  </a:ext>
                </a:extLst>
              </a:tr>
              <a:tr h="36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Final cleaned dataset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9,698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68514994"/>
                  </a:ext>
                </a:extLst>
              </a:tr>
              <a:tr h="36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Training samples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7,758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09157068"/>
                  </a:ext>
                </a:extLst>
              </a:tr>
              <a:tr h="36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Validation samples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970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31284790"/>
                  </a:ext>
                </a:extLst>
              </a:tr>
              <a:tr h="36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Testing samples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/>
                          <a:cs typeface="Times New Roman"/>
                        </a:rPr>
                        <a:t>970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60704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619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2B136D-C4AB-B37C-6C0D-F77A2701A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899512"/>
            <a:ext cx="11436823" cy="524945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sz="3200" b="1">
                <a:latin typeface="Times New Roman"/>
                <a:cs typeface="Times New Roman"/>
              </a:rPr>
              <a:t>Summarization Quality Metrics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Used to measure lexical overlap and semantic similarity between generated and reference summaries.</a:t>
            </a:r>
          </a:p>
          <a:p>
            <a:r>
              <a:rPr lang="en-US" b="1">
                <a:latin typeface="Times New Roman"/>
                <a:cs typeface="Times New Roman"/>
              </a:rPr>
              <a:t>ROUGE-1</a:t>
            </a:r>
            <a:r>
              <a:rPr lang="en-US">
                <a:latin typeface="Times New Roman"/>
                <a:cs typeface="Times New Roman"/>
              </a:rPr>
              <a:t> → unigram overlap (content coverage)</a:t>
            </a:r>
          </a:p>
          <a:p>
            <a:r>
              <a:rPr lang="en-US" b="1">
                <a:latin typeface="Times New Roman"/>
                <a:cs typeface="Times New Roman"/>
              </a:rPr>
              <a:t>ROUGE-2</a:t>
            </a:r>
            <a:r>
              <a:rPr lang="en-US">
                <a:latin typeface="Times New Roman"/>
                <a:cs typeface="Times New Roman"/>
              </a:rPr>
              <a:t> → bigram overlap (phrase coherence)</a:t>
            </a:r>
          </a:p>
          <a:p>
            <a:r>
              <a:rPr lang="en-US" b="1">
                <a:latin typeface="Times New Roman"/>
                <a:cs typeface="Times New Roman"/>
              </a:rPr>
              <a:t>ROUGE-L</a:t>
            </a:r>
            <a:r>
              <a:rPr lang="en-US">
                <a:latin typeface="Times New Roman"/>
                <a:cs typeface="Times New Roman"/>
              </a:rPr>
              <a:t> → longest common subsequence (structural similarity)</a:t>
            </a:r>
          </a:p>
          <a:p>
            <a:r>
              <a:rPr lang="en-US" b="1">
                <a:latin typeface="Times New Roman"/>
                <a:cs typeface="Times New Roman"/>
              </a:rPr>
              <a:t>BLEU</a:t>
            </a:r>
            <a:r>
              <a:rPr lang="en-US">
                <a:latin typeface="Times New Roman"/>
                <a:cs typeface="Times New Roman"/>
              </a:rPr>
              <a:t> → n-gram precision-based generation accuracy</a:t>
            </a:r>
          </a:p>
          <a:p>
            <a:r>
              <a:rPr lang="en-US" b="1" err="1">
                <a:latin typeface="Times New Roman"/>
                <a:cs typeface="Times New Roman"/>
              </a:rPr>
              <a:t>BERTScore</a:t>
            </a:r>
            <a:r>
              <a:rPr lang="en-US">
                <a:latin typeface="Times New Roman"/>
                <a:cs typeface="Times New Roman"/>
              </a:rPr>
              <a:t> → contextual semantic similarity using transformer embeddings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200" b="1">
                <a:latin typeface="Times New Roman"/>
                <a:cs typeface="Times New Roman"/>
              </a:rPr>
              <a:t>Hallucination / Reliability Metrics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Used to assess factual grounding and unsupported content generation.</a:t>
            </a:r>
          </a:p>
          <a:p>
            <a:r>
              <a:rPr lang="en-US" b="1">
                <a:latin typeface="Times New Roman"/>
                <a:cs typeface="Times New Roman"/>
              </a:rPr>
              <a:t>Faithfulness (F)</a:t>
            </a:r>
            <a:r>
              <a:rPr lang="en-US">
                <a:latin typeface="Times New Roman"/>
                <a:cs typeface="Times New Roman"/>
              </a:rPr>
              <a:t> → consistency between generated summary and source article</a:t>
            </a:r>
          </a:p>
          <a:p>
            <a:r>
              <a:rPr lang="en-US" b="1">
                <a:latin typeface="Times New Roman"/>
                <a:cs typeface="Times New Roman"/>
              </a:rPr>
              <a:t>Context Precision (CP)</a:t>
            </a:r>
            <a:r>
              <a:rPr lang="en-US">
                <a:latin typeface="Times New Roman"/>
                <a:cs typeface="Times New Roman"/>
              </a:rPr>
              <a:t> → proportion of generated content supported by context</a:t>
            </a:r>
          </a:p>
          <a:p>
            <a:r>
              <a:rPr lang="en-US" b="1">
                <a:latin typeface="Times New Roman"/>
                <a:cs typeface="Times New Roman"/>
              </a:rPr>
              <a:t>Context Recall (CR)</a:t>
            </a:r>
            <a:r>
              <a:rPr lang="en-US">
                <a:latin typeface="Times New Roman"/>
                <a:cs typeface="Times New Roman"/>
              </a:rPr>
              <a:t> → extent of source information reflected in summary</a:t>
            </a:r>
          </a:p>
          <a:p>
            <a:r>
              <a:rPr lang="en-US" b="1">
                <a:latin typeface="Times New Roman"/>
                <a:cs typeface="Times New Roman"/>
              </a:rPr>
              <a:t>Hallucination Rate (HR)</a:t>
            </a:r>
            <a:r>
              <a:rPr lang="en-US">
                <a:latin typeface="Times New Roman"/>
                <a:cs typeface="Times New Roman"/>
              </a:rPr>
              <a:t> → proportion of severely unsupported summaries</a:t>
            </a:r>
          </a:p>
          <a:p>
            <a:r>
              <a:rPr lang="en-US" b="1">
                <a:latin typeface="Times New Roman"/>
                <a:cs typeface="Times New Roman"/>
              </a:rPr>
              <a:t>Custom Hallucination Score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highlight>
                  <a:srgbClr val="FFFF00"/>
                </a:highlight>
                <a:latin typeface="Times New Roman"/>
                <a:cs typeface="Times New Roman"/>
              </a:rPr>
              <a:t>HS = 1 - (0.4F + 0.2CP + 0.2CR + 0.2B)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latin typeface="Times New Roman"/>
                <a:cs typeface="Times New Roman"/>
              </a:rPr>
              <a:t>Lower HS = Better factual consistency</a:t>
            </a:r>
            <a:endParaRPr lang="en-US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C4E5DB-811E-6DC9-4D0D-835586FAF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Evaluation Metrics</a:t>
            </a:r>
            <a:endParaRPr lang="en-US" sz="360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6121CA-1231-5391-FF31-0A56D6D80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7E8CB-455A-72F6-2EAB-DC7BF08F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77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51B804-A2B1-E9BE-9437-B8F7ECEDB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EE13F-DEA1-8892-3AD0-14455D76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9B3D6-C684-57FC-BD0C-3CD06C32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866396B-D1B8-553A-CDAC-B1035A35C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0112" y="-2295"/>
            <a:ext cx="4750842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10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E5D05C2-2FDE-9A37-E808-2F981DEE19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659103"/>
              </p:ext>
            </p:extLst>
          </p:nvPr>
        </p:nvGraphicFramePr>
        <p:xfrm>
          <a:off x="341313" y="965962"/>
          <a:ext cx="11436345" cy="2099612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37137">
                  <a:extLst>
                    <a:ext uri="{9D8B030D-6E8A-4147-A177-3AD203B41FA5}">
                      <a16:colId xmlns:a16="http://schemas.microsoft.com/office/drawing/2014/main" val="1216646129"/>
                    </a:ext>
                  </a:extLst>
                </a:gridCol>
                <a:gridCol w="3757448">
                  <a:extLst>
                    <a:ext uri="{9D8B030D-6E8A-4147-A177-3AD203B41FA5}">
                      <a16:colId xmlns:a16="http://schemas.microsoft.com/office/drawing/2014/main" val="1871523614"/>
                    </a:ext>
                  </a:extLst>
                </a:gridCol>
                <a:gridCol w="6141760">
                  <a:extLst>
                    <a:ext uri="{9D8B030D-6E8A-4147-A177-3AD203B41FA5}">
                      <a16:colId xmlns:a16="http://schemas.microsoft.com/office/drawing/2014/main" val="112191150"/>
                    </a:ext>
                  </a:extLst>
                </a:gridCol>
              </a:tblGrid>
              <a:tr h="35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  <a:latin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  <a:latin typeface="Times New Roman"/>
                          <a:cs typeface="Times New Roman"/>
                        </a:rPr>
                        <a:t>Architecture Type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  <a:latin typeface="Times New Roman"/>
                          <a:cs typeface="Times New Roman"/>
                        </a:rPr>
                        <a:t>Experimental Use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03711843"/>
                  </a:ext>
                </a:extLst>
              </a:tr>
              <a:tr h="425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  <a:latin typeface="Times New Roman"/>
                          <a:cs typeface="Times New Roman"/>
                        </a:rPr>
                        <a:t>mBART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Encoder–Decoder Transformer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Zero-shot, Two-shot, Fine-tuning, RAG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11815499"/>
                  </a:ext>
                </a:extLst>
              </a:tr>
              <a:tr h="425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mT5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Text-to-Text Transformer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Zero-shot, Two-shot, Fine-tuning, RAG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59698426"/>
                  </a:ext>
                </a:extLst>
              </a:tr>
              <a:tr h="425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BLOOMZ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Instruction-tuned LLM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Zero-shot, Two-shot, Fine-tuning, RAG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21576748"/>
                  </a:ext>
                </a:extLst>
              </a:tr>
              <a:tr h="425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Sarvam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Multilingual Instruction LLM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Times New Roman"/>
                          <a:cs typeface="Times New Roman"/>
                        </a:rPr>
                        <a:t>Zero-shot, Two-shot, Fine-tuning, RAG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5635426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23A6424-31F5-7E5F-6616-C9226AD4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Experimental Parameter Settings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6ED2A-811C-DB7C-0179-77E92B19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175F5-5C3C-AC26-FE76-F9B142F3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AB081-56E4-F57A-5E95-16EB19AA6B7B}"/>
              </a:ext>
            </a:extLst>
          </p:cNvPr>
          <p:cNvSpPr txBox="1"/>
          <p:nvPr/>
        </p:nvSpPr>
        <p:spPr>
          <a:xfrm>
            <a:off x="341376" y="3215640"/>
            <a:ext cx="847344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Prompt-based Settings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Times New Roman"/>
                <a:cs typeface="Times New Roman"/>
              </a:rPr>
              <a:t>Zero-shot:</a:t>
            </a:r>
            <a:r>
              <a:rPr lang="en-US">
                <a:latin typeface="Times New Roman"/>
                <a:cs typeface="Times New Roman"/>
              </a:rPr>
              <a:t> Direct summarization prompt without examples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Times New Roman"/>
                <a:cs typeface="Times New Roman"/>
              </a:rPr>
              <a:t>Two-shot:</a:t>
            </a:r>
            <a:r>
              <a:rPr lang="en-US">
                <a:latin typeface="Times New Roman"/>
                <a:cs typeface="Times New Roman"/>
              </a:rPr>
              <a:t> Prompt with 2 Malayalam article-summary examples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Generation based on pretrained multilingual/instruction-following capability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RAG Settings</a:t>
            </a:r>
            <a:endParaRPr lang="en-US" b="1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Retrieval method: </a:t>
            </a:r>
            <a:r>
              <a:rPr lang="en-US" b="1">
                <a:latin typeface="Times New Roman"/>
                <a:cs typeface="Times New Roman"/>
              </a:rPr>
              <a:t>Semantic similarity search</a:t>
            </a:r>
            <a:endParaRPr lang="en-US" b="1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Document chunking for source article segmentation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Retrieved top relevant chunks added to generation prompt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Objective: improve grounding and reduce hallucination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782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FDDD16-9FC1-8CB3-AFFF-C57C50715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C71D12-DBA8-BC4B-AC1B-AC6F9A35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Fine Tuning Parameter Settings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52083-BEB9-E4EB-D1DE-79E72AC4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CD56D-8E8A-F4F8-7991-C1A8483A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071E7D-39E6-A90B-06A3-80E1B202C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303682"/>
              </p:ext>
            </p:extLst>
          </p:nvPr>
        </p:nvGraphicFramePr>
        <p:xfrm>
          <a:off x="5571744" y="1542288"/>
          <a:ext cx="6337718" cy="3535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168859">
                  <a:extLst>
                    <a:ext uri="{9D8B030D-6E8A-4147-A177-3AD203B41FA5}">
                      <a16:colId xmlns:a16="http://schemas.microsoft.com/office/drawing/2014/main" val="880318104"/>
                    </a:ext>
                  </a:extLst>
                </a:gridCol>
                <a:gridCol w="3168859">
                  <a:extLst>
                    <a:ext uri="{9D8B030D-6E8A-4147-A177-3AD203B41FA5}">
                      <a16:colId xmlns:a16="http://schemas.microsoft.com/office/drawing/2014/main" val="41219692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Parameter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Value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97908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Train/Test Split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80:10:10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80313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Epochs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06520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Optimizer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  <a:latin typeface="Times New Roman"/>
                          <a:cs typeface="Times New Roman"/>
                        </a:rPr>
                        <a:t>AdamW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76602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Learning Strategy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Supervised sequence-to-sequence learning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55296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Early Stopping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Enabled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5715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Input Processing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Tokenization + truncation + padding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54361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51480F1-7464-8471-0F4D-F8E05C6B2BEA}"/>
              </a:ext>
            </a:extLst>
          </p:cNvPr>
          <p:cNvSpPr txBox="1"/>
          <p:nvPr/>
        </p:nvSpPr>
        <p:spPr>
          <a:xfrm>
            <a:off x="341376" y="1581912"/>
            <a:ext cx="917448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Model-specific Training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latin typeface="Times New Roman"/>
                <a:cs typeface="Times New Roman"/>
              </a:rPr>
              <a:t>mBART</a:t>
            </a:r>
            <a:r>
              <a:rPr lang="en-US" b="1" dirty="0">
                <a:latin typeface="Times New Roman"/>
                <a:cs typeface="Times New Roman"/>
              </a:rPr>
              <a:t> / mT5</a:t>
            </a:r>
            <a:endParaRPr lang="en-US" b="1" dirty="0">
              <a:latin typeface="Times New Roman"/>
              <a:ea typeface="Calibri"/>
              <a:cs typeface="Times New Roman"/>
            </a:endParaRPr>
          </a:p>
          <a:p>
            <a:pPr marL="1200150" lvl="3" indent="-285750">
              <a:buFont typeface="Wingdings"/>
              <a:buChar char="§"/>
            </a:pPr>
            <a:r>
              <a:rPr lang="en-US">
                <a:latin typeface="Times New Roman"/>
                <a:cs typeface="Times New Roman"/>
              </a:rPr>
              <a:t>Encoder-decoder supervised fine-tuning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1200150" lvl="3" indent="-285750">
              <a:buFont typeface="Wingdings"/>
              <a:buChar char="§"/>
            </a:pPr>
            <a:r>
              <a:rPr lang="en-US">
                <a:latin typeface="Times New Roman"/>
                <a:cs typeface="Times New Roman"/>
              </a:rPr>
              <a:t>Article → input sequence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1200150" lvl="3" indent="-285750">
              <a:buFont typeface="Wingdings"/>
              <a:buChar char="§"/>
            </a:pPr>
            <a:r>
              <a:rPr lang="en-US">
                <a:latin typeface="Times New Roman"/>
                <a:cs typeface="Times New Roman"/>
              </a:rPr>
              <a:t>Summary → target sequence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Times New Roman"/>
                <a:cs typeface="Times New Roman"/>
              </a:rPr>
              <a:t>BLOOMZ / Sarvam</a:t>
            </a:r>
            <a:endParaRPr lang="en-US" b="1">
              <a:latin typeface="Times New Roman"/>
              <a:ea typeface="Calibri"/>
              <a:cs typeface="Times New Roman"/>
            </a:endParaRPr>
          </a:p>
          <a:p>
            <a:pPr marL="1200150" lvl="3" indent="-285750">
              <a:buFont typeface="Wingdings"/>
              <a:buChar char="§"/>
            </a:pPr>
            <a:r>
              <a:rPr lang="en-US">
                <a:latin typeface="Times New Roman"/>
                <a:cs typeface="Times New Roman"/>
              </a:rPr>
              <a:t>Prompt-based supervised fine-tuning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1200150" lvl="3" indent="-285750">
              <a:buFont typeface="Wingdings"/>
              <a:buChar char="§"/>
            </a:pPr>
            <a:r>
              <a:rPr lang="en-US">
                <a:latin typeface="Times New Roman"/>
                <a:cs typeface="Times New Roman"/>
              </a:rPr>
              <a:t>Instruction-formatted article-summary </a:t>
            </a:r>
          </a:p>
          <a:p>
            <a:pPr marL="914400" lvl="3"/>
            <a:r>
              <a:rPr lang="en-US">
                <a:latin typeface="Times New Roman"/>
                <a:cs typeface="Times New Roman"/>
              </a:rPr>
              <a:t>pairs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Training Objective</a:t>
            </a:r>
            <a:endParaRPr lang="en-US" b="1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Improve Malayalam summarization adaptation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Reduce hallucinated generation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Learn stronger source-summary mapping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496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0BBC6B-FB8D-369E-D040-EA0E87DA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Overall Comparative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FCD54-B130-5520-9254-C727B441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04EBF-0C95-90D8-2D18-594754EA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DEEB88-3D27-5B84-11D9-55E5D90C7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5130136"/>
            <a:ext cx="11436823" cy="49080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>
                <a:latin typeface="Georgia"/>
              </a:rPr>
              <a:t>Most models generated summaries using information from the source article.</a:t>
            </a:r>
            <a:endParaRPr lang="en-US" sz="1400" dirty="0">
              <a:latin typeface="Georgia"/>
            </a:endParaRPr>
          </a:p>
          <a:p>
            <a:r>
              <a:rPr lang="en-US" sz="1400" dirty="0">
                <a:latin typeface="Georgia"/>
              </a:rPr>
              <a:t>This means important source content was generally retained.</a:t>
            </a:r>
          </a:p>
          <a:p>
            <a:r>
              <a:rPr lang="en-US" sz="1400">
                <a:latin typeface="Georgia"/>
              </a:rPr>
              <a:t>Sarvam RAG performed lower because it could not effectively use the retrieved context.</a:t>
            </a:r>
            <a:endParaRPr lang="en-US" sz="1400" dirty="0">
              <a:latin typeface="Georgia"/>
            </a:endParaRPr>
          </a:p>
          <a:p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4F641-F03E-D9AF-B52C-B05877717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49" y="772287"/>
            <a:ext cx="114109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90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EB5A2F-5515-7FB8-0A00-99C58623F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5222" y="887721"/>
            <a:ext cx="10328768" cy="51023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7309AAA-D541-F551-90C0-5099050E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Fine-tuned Model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20A36-63F1-205E-8BD4-312E99F1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BCD26-9CD2-CFBC-4299-3AA4F2DCA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95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FAF60C-A024-7084-A941-5BA4F7188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6037" y="1148804"/>
            <a:ext cx="6224016" cy="373893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F59A510-2118-9238-6E39-29DC05DE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4" y="610789"/>
            <a:ext cx="11436823" cy="421441"/>
          </a:xfrm>
        </p:spPr>
        <p:txBody>
          <a:bodyPr/>
          <a:lstStyle/>
          <a:p>
            <a:r>
              <a:rPr lang="en-US" b="1"/>
              <a:t>Prompt-based Model Comparison (Zero-shot vs Two-shot)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E1EC3-75A1-B392-D61D-70163574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CC684-C4A8-C2F8-564D-90C7D515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C931D-36F5-6530-F399-55C239E05B2C}"/>
              </a:ext>
            </a:extLst>
          </p:cNvPr>
          <p:cNvSpPr txBox="1"/>
          <p:nvPr/>
        </p:nvSpPr>
        <p:spPr>
          <a:xfrm>
            <a:off x="225552" y="3422904"/>
            <a:ext cx="102108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mT5 improved significantly with two-shot prompting</a:t>
            </a:r>
            <a:endParaRPr lang="en-US">
              <a:latin typeface="Times New Roman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Hallucination score reduced from </a:t>
            </a:r>
            <a:r>
              <a:rPr lang="en-US" b="1">
                <a:latin typeface="Times New Roman"/>
                <a:cs typeface="Times New Roman"/>
              </a:rPr>
              <a:t>0.141 → 0.083</a:t>
            </a:r>
          </a:p>
          <a:p>
            <a:pPr marL="228600" lvl="1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Better factual grounding with examples</a:t>
            </a:r>
          </a:p>
          <a:p>
            <a:r>
              <a:rPr lang="en-US" b="1">
                <a:latin typeface="Times New Roman"/>
                <a:cs typeface="Times New Roman"/>
              </a:rPr>
              <a:t>Sarvam remained stable</a:t>
            </a:r>
            <a:endParaRPr lang="en-US" b="1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Similar performance in zero-shot and two-shot</a:t>
            </a:r>
          </a:p>
          <a:p>
            <a:r>
              <a:rPr lang="en-US" b="1" dirty="0">
                <a:latin typeface="Times New Roman"/>
                <a:cs typeface="Times New Roman"/>
              </a:rPr>
              <a:t>BLOOMZ and </a:t>
            </a:r>
            <a:r>
              <a:rPr lang="en-US" b="1" dirty="0" err="1">
                <a:latin typeface="Times New Roman"/>
                <a:cs typeface="Times New Roman"/>
              </a:rPr>
              <a:t>mBART</a:t>
            </a:r>
            <a:r>
              <a:rPr lang="en-US" b="1" dirty="0">
                <a:latin typeface="Times New Roman"/>
                <a:cs typeface="Times New Roman"/>
              </a:rPr>
              <a:t> showed limited improvement</a:t>
            </a:r>
            <a:endParaRPr lang="en-US" b="1" dirty="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Prompt examples alone did not consistently improve reliability</a:t>
            </a: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8833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5F68524-9277-C4FA-0054-A3F98E41F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367896"/>
              </p:ext>
            </p:extLst>
          </p:nvPr>
        </p:nvGraphicFramePr>
        <p:xfrm>
          <a:off x="341313" y="1136650"/>
          <a:ext cx="11436350" cy="2133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287270">
                  <a:extLst>
                    <a:ext uri="{9D8B030D-6E8A-4147-A177-3AD203B41FA5}">
                      <a16:colId xmlns:a16="http://schemas.microsoft.com/office/drawing/2014/main" val="989153395"/>
                    </a:ext>
                  </a:extLst>
                </a:gridCol>
                <a:gridCol w="2287270">
                  <a:extLst>
                    <a:ext uri="{9D8B030D-6E8A-4147-A177-3AD203B41FA5}">
                      <a16:colId xmlns:a16="http://schemas.microsoft.com/office/drawing/2014/main" val="3682393150"/>
                    </a:ext>
                  </a:extLst>
                </a:gridCol>
                <a:gridCol w="2287270">
                  <a:extLst>
                    <a:ext uri="{9D8B030D-6E8A-4147-A177-3AD203B41FA5}">
                      <a16:colId xmlns:a16="http://schemas.microsoft.com/office/drawing/2014/main" val="3263649681"/>
                    </a:ext>
                  </a:extLst>
                </a:gridCol>
                <a:gridCol w="2287270">
                  <a:extLst>
                    <a:ext uri="{9D8B030D-6E8A-4147-A177-3AD203B41FA5}">
                      <a16:colId xmlns:a16="http://schemas.microsoft.com/office/drawing/2014/main" val="1088277515"/>
                    </a:ext>
                  </a:extLst>
                </a:gridCol>
                <a:gridCol w="2287270">
                  <a:extLst>
                    <a:ext uri="{9D8B030D-6E8A-4147-A177-3AD203B41FA5}">
                      <a16:colId xmlns:a16="http://schemas.microsoft.com/office/drawing/2014/main" val="3169196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Faithfulness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Context Precision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Context Recall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HS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66184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BLOOMZ RAG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0.798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0.997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1.000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0.126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31205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mT5 RAG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0.787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1.000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1.000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0.129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9100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  <a:latin typeface="Times New Roman"/>
                          <a:cs typeface="Times New Roman"/>
                        </a:rPr>
                        <a:t>mBART</a:t>
                      </a:r>
                      <a:r>
                        <a:rPr lang="en-US" dirty="0">
                          <a:effectLst/>
                          <a:latin typeface="Times New Roman"/>
                          <a:cs typeface="Times New Roman"/>
                        </a:rPr>
                        <a:t> RAG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0.823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0.699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1.000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0.173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71495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Sarvam RAG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0.586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0.508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0.508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0.458</a:t>
                      </a: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486225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D81CE3E-6732-467F-623C-697CD8D4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Retrieval-Augmented Generation (RAG) Analysis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77179-101E-7DC0-96A9-BEBDE445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FCD70-7C0B-551C-C56A-5B0278E2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FA501-6F75-03F4-3EBD-B3127D2FD3FF}"/>
              </a:ext>
            </a:extLst>
          </p:cNvPr>
          <p:cNvSpPr txBox="1"/>
          <p:nvPr/>
        </p:nvSpPr>
        <p:spPr>
          <a:xfrm>
            <a:off x="316992" y="3429000"/>
            <a:ext cx="1146048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BLOOMZ and mT5 showed moderate grounding improvement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Arial"/>
              <a:buChar char="•"/>
            </a:pPr>
            <a:r>
              <a:rPr lang="en-US" sz="1600">
                <a:latin typeface="Times New Roman"/>
                <a:cs typeface="Times New Roman"/>
              </a:rPr>
              <a:t>Better contextual support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Arial"/>
              <a:buChar char="•"/>
            </a:pPr>
            <a:r>
              <a:rPr lang="en-US" sz="1600">
                <a:latin typeface="Times New Roman"/>
                <a:cs typeface="Times New Roman"/>
              </a:rPr>
              <a:t>Lower hallucination tendency than weaker prompt-based settings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 b="1" dirty="0" err="1">
                <a:latin typeface="Times New Roman"/>
                <a:cs typeface="Times New Roman"/>
              </a:rPr>
              <a:t>mBART</a:t>
            </a:r>
            <a:r>
              <a:rPr lang="en-US" sz="1600" b="1" dirty="0">
                <a:latin typeface="Times New Roman"/>
                <a:cs typeface="Times New Roman"/>
              </a:rPr>
              <a:t> showed partial improvement</a:t>
            </a:r>
            <a:endParaRPr lang="en-US" sz="1600" b="1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Arial"/>
              <a:buChar char="•"/>
            </a:pPr>
            <a:r>
              <a:rPr lang="en-US" sz="1600">
                <a:latin typeface="Times New Roman"/>
                <a:cs typeface="Times New Roman"/>
              </a:rPr>
              <a:t>Retrieval helped factual alignment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Arial"/>
              <a:buChar char="•"/>
            </a:pPr>
            <a:r>
              <a:rPr lang="en-US" sz="1600">
                <a:latin typeface="Times New Roman"/>
                <a:cs typeface="Times New Roman"/>
              </a:rPr>
              <a:t>Context precision remained lower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 b="1">
                <a:latin typeface="Times New Roman"/>
                <a:cs typeface="Times New Roman"/>
              </a:rPr>
              <a:t>Sarvam performed poorly</a:t>
            </a:r>
            <a:endParaRPr lang="en-US" sz="1600" b="1">
              <a:latin typeface="Times New Roman"/>
              <a:ea typeface="Calibri"/>
              <a:cs typeface="Times New Roman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>
                <a:latin typeface="Times New Roman"/>
                <a:cs typeface="Times New Roman"/>
              </a:rPr>
              <a:t>Lowest faithfulness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>
                <a:latin typeface="Times New Roman"/>
                <a:cs typeface="Times New Roman"/>
              </a:rPr>
              <a:t>Weak context integration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>
                <a:latin typeface="Times New Roman"/>
                <a:cs typeface="Times New Roman"/>
              </a:rPr>
              <a:t>Highest hallucination score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>
                <a:latin typeface="Times New Roman"/>
                <a:cs typeface="Times New Roman"/>
              </a:rPr>
              <a:t>Only model with significant hallucination rate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16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954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9FAD2EC-C869-5AA5-7DC3-DAD666661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251570"/>
              </p:ext>
            </p:extLst>
          </p:nvPr>
        </p:nvGraphicFramePr>
        <p:xfrm>
          <a:off x="341313" y="911098"/>
          <a:ext cx="11436348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2116">
                  <a:extLst>
                    <a:ext uri="{9D8B030D-6E8A-4147-A177-3AD203B41FA5}">
                      <a16:colId xmlns:a16="http://schemas.microsoft.com/office/drawing/2014/main" val="973545741"/>
                    </a:ext>
                  </a:extLst>
                </a:gridCol>
                <a:gridCol w="3812116">
                  <a:extLst>
                    <a:ext uri="{9D8B030D-6E8A-4147-A177-3AD203B41FA5}">
                      <a16:colId xmlns:a16="http://schemas.microsoft.com/office/drawing/2014/main" val="1180790773"/>
                    </a:ext>
                  </a:extLst>
                </a:gridCol>
                <a:gridCol w="3812116">
                  <a:extLst>
                    <a:ext uri="{9D8B030D-6E8A-4147-A177-3AD203B41FA5}">
                      <a16:colId xmlns:a16="http://schemas.microsoft.com/office/drawing/2014/main" val="3525193808"/>
                    </a:ext>
                  </a:extLst>
                </a:gridCol>
              </a:tblGrid>
              <a:tr h="351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Metric</a:t>
                      </a:r>
                      <a:endParaRPr lang="en-US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Times New Roman"/>
                          <a:cs typeface="Times New Roman"/>
                        </a:rPr>
                        <a:t>Fine-tuned mT5</a:t>
                      </a:r>
                      <a:endParaRPr lang="en-US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Times New Roman"/>
                          <a:cs typeface="Times New Roman"/>
                        </a:rPr>
                        <a:t>Fine-tuned </a:t>
                      </a:r>
                      <a:r>
                        <a:rPr lang="en-US" b="1" dirty="0" err="1">
                          <a:effectLst/>
                          <a:latin typeface="Times New Roman"/>
                          <a:cs typeface="Times New Roman"/>
                        </a:rPr>
                        <a:t>mBART</a:t>
                      </a:r>
                      <a:endParaRPr lang="en-US" dirty="0" err="1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550241"/>
                  </a:ext>
                </a:extLst>
              </a:tr>
              <a:tr h="351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ROUGE-L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0.0329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0.0375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651638"/>
                  </a:ext>
                </a:extLst>
              </a:tr>
              <a:tr h="351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BLEU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14.17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14.42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483408"/>
                  </a:ext>
                </a:extLst>
              </a:tr>
              <a:tr h="351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Faithfulness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0.9222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0.9122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12299"/>
                  </a:ext>
                </a:extLst>
              </a:tr>
              <a:tr h="351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Hallucination Score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0.0553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/>
                          <a:cs typeface="Times New Roman"/>
                        </a:rPr>
                        <a:t>0.0581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23875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4F01666-75B7-5755-FD12-2F6A5DCD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Best Model Comparison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7DE7F7-5D11-661E-93EB-501C5256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534F1-8EA4-4E76-9009-D3879EAD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E009B5-5B4B-DCDF-801A-9720B3208241}"/>
              </a:ext>
            </a:extLst>
          </p:cNvPr>
          <p:cNvSpPr txBox="1"/>
          <p:nvPr/>
        </p:nvSpPr>
        <p:spPr>
          <a:xfrm>
            <a:off x="341376" y="3422904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Key Observations</a:t>
            </a:r>
          </a:p>
          <a:p>
            <a:r>
              <a:rPr lang="en-US" b="1">
                <a:latin typeface="Times New Roman"/>
                <a:cs typeface="Times New Roman"/>
              </a:rPr>
              <a:t>mT5</a:t>
            </a:r>
            <a:endParaRPr lang="en-US" b="1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Highest faithfulness</a:t>
            </a:r>
          </a:p>
          <a:p>
            <a:pPr marL="228600" lvl="1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Lowest hallucination score</a:t>
            </a:r>
          </a:p>
          <a:p>
            <a:pPr marL="228600" lvl="1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Most reliable factual grounding</a:t>
            </a:r>
          </a:p>
          <a:p>
            <a:r>
              <a:rPr lang="en-US" b="1" err="1">
                <a:latin typeface="Times New Roman"/>
                <a:cs typeface="Times New Roman"/>
              </a:rPr>
              <a:t>mBART</a:t>
            </a:r>
            <a:endParaRPr lang="en-US" b="1" err="1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Highest ROUGE and BLEU</a:t>
            </a:r>
          </a:p>
          <a:p>
            <a:pPr marL="228600" lvl="1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Better lexical overlap with reference summaries</a:t>
            </a: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67F1E-842F-C93F-2795-98D4C659123C}"/>
              </a:ext>
            </a:extLst>
          </p:cNvPr>
          <p:cNvSpPr txBox="1"/>
          <p:nvPr/>
        </p:nvSpPr>
        <p:spPr>
          <a:xfrm>
            <a:off x="5126736" y="3038856"/>
            <a:ext cx="666902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Why mT5 performed better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Text-to-text encoder-decoder architecture naturally aligns with summarization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Strong multilingual pretraining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Better adaptation to Malayalam after supervised fine-tuning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Improved semantic compression with factual consistency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Interpretation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Times New Roman"/>
                <a:cs typeface="Times New Roman"/>
              </a:rPr>
              <a:t>mBART</a:t>
            </a:r>
            <a:r>
              <a:rPr lang="en-US" dirty="0">
                <a:latin typeface="Times New Roman"/>
                <a:cs typeface="Times New Roman"/>
              </a:rPr>
              <a:t> produced stronger lexical similarity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mT5 produced more factually reliable summaries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For trustworthy summarization, factual grounding is more critical than lexical overlap alone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1519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D6458B-C8F9-6108-8C62-0350A7349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>
                <a:latin typeface="Georgia"/>
              </a:rPr>
              <a:t>Observed Limitations</a:t>
            </a:r>
            <a:endParaRPr lang="en-US" sz="1600">
              <a:latin typeface="Georgia"/>
            </a:endParaRPr>
          </a:p>
          <a:p>
            <a:r>
              <a:rPr lang="en-US" sz="1600" b="1">
                <a:latin typeface="Georgia"/>
              </a:rPr>
              <a:t>Low ROUGE scores across many models</a:t>
            </a:r>
            <a:endParaRPr lang="en-US" sz="1600">
              <a:latin typeface="Georgia"/>
            </a:endParaRPr>
          </a:p>
          <a:p>
            <a:pPr lvl="1"/>
            <a:r>
              <a:rPr lang="en-US" sz="1400">
                <a:latin typeface="Georgia"/>
              </a:rPr>
              <a:t>Malayalam allows flexible sentence structure and rich paraphrasing</a:t>
            </a:r>
          </a:p>
          <a:p>
            <a:pPr lvl="1"/>
            <a:r>
              <a:rPr lang="en-US" sz="1400">
                <a:latin typeface="Georgia"/>
              </a:rPr>
              <a:t>Semantically correct summaries may still have low lexical overlap</a:t>
            </a:r>
          </a:p>
          <a:p>
            <a:r>
              <a:rPr lang="en-US" sz="1600" b="1">
                <a:latin typeface="Georgia"/>
              </a:rPr>
              <a:t>Prompt-based models</a:t>
            </a:r>
            <a:endParaRPr lang="en-US" sz="1600">
              <a:latin typeface="Georgia"/>
            </a:endParaRPr>
          </a:p>
          <a:p>
            <a:pPr lvl="1"/>
            <a:r>
              <a:rPr lang="en-US" sz="1400">
                <a:latin typeface="Georgia"/>
              </a:rPr>
              <a:t>Generated fluent but weakly aligned summaries</a:t>
            </a:r>
          </a:p>
          <a:p>
            <a:pPr lvl="1"/>
            <a:r>
              <a:rPr lang="en-US" sz="1400">
                <a:latin typeface="Georgia"/>
              </a:rPr>
              <a:t>Lack of task-specific adaptation reduced consistency</a:t>
            </a:r>
          </a:p>
          <a:p>
            <a:r>
              <a:rPr lang="en-US" sz="1600" b="1">
                <a:latin typeface="Georgia"/>
              </a:rPr>
              <a:t>RAG limitations</a:t>
            </a:r>
            <a:endParaRPr lang="en-US" sz="1600">
              <a:latin typeface="Georgia"/>
            </a:endParaRPr>
          </a:p>
          <a:p>
            <a:pPr lvl="1"/>
            <a:r>
              <a:rPr lang="en-US" sz="1400">
                <a:latin typeface="Georgia"/>
              </a:rPr>
              <a:t>Retrieval quality directly affected performance</a:t>
            </a:r>
          </a:p>
          <a:p>
            <a:pPr lvl="1"/>
            <a:r>
              <a:rPr lang="en-US" sz="1400">
                <a:latin typeface="Georgia"/>
              </a:rPr>
              <a:t>Weakly relevant retrieved chunks reduced grounding effectiveness</a:t>
            </a:r>
          </a:p>
          <a:p>
            <a:r>
              <a:rPr lang="en-US" sz="1600" b="1">
                <a:latin typeface="Georgia"/>
              </a:rPr>
              <a:t>Sarvam RAG</a:t>
            </a:r>
            <a:endParaRPr lang="en-US" sz="1600">
              <a:latin typeface="Georgia"/>
            </a:endParaRPr>
          </a:p>
          <a:p>
            <a:pPr lvl="1"/>
            <a:r>
              <a:rPr lang="en-US" sz="1400">
                <a:latin typeface="Georgia"/>
              </a:rPr>
              <a:t>Poor integration between retrieved context and generation</a:t>
            </a:r>
          </a:p>
          <a:p>
            <a:pPr lvl="1"/>
            <a:r>
              <a:rPr lang="en-US" sz="1400">
                <a:latin typeface="Georgia"/>
              </a:rPr>
              <a:t>Higher hallucination tendency compared to other models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818C6D-CAD2-848D-58A0-1646EFC62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Error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E3CA1-038E-90F6-C73A-15A3E20F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6671D-66AF-1776-C26E-9A7C7B09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2B8E1-8484-DB8D-DD61-74A1BD1F7DC5}"/>
              </a:ext>
            </a:extLst>
          </p:cNvPr>
          <p:cNvSpPr txBox="1"/>
          <p:nvPr/>
        </p:nvSpPr>
        <p:spPr>
          <a:xfrm>
            <a:off x="341376" y="5056632"/>
            <a:ext cx="983894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Interpretation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Lexical metrics alone cannot fully capture abstractive summary quality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Model architecture strongly influences factual reliability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Retrieval augmentation is only effective when retrieval relevance and model compatibility are strong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9200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D5D5AB-DD9D-7022-D219-380372A37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37" t="2402" r="-122" b="1643"/>
          <a:stretch>
            <a:fillRect/>
          </a:stretch>
        </p:blipFill>
        <p:spPr>
          <a:xfrm>
            <a:off x="1103900" y="930393"/>
            <a:ext cx="9911336" cy="462687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349E5A0-921C-CB19-875B-6E9369EB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Georgia"/>
              </a:rPr>
              <a:t>Comparative Heatmap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A14C4-A9E3-967C-204B-18EF9851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C8F7B-185C-507C-35CF-3B5CC22F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55A92-7F77-3592-CD1F-0B569163F01F}"/>
              </a:ext>
            </a:extLst>
          </p:cNvPr>
          <p:cNvSpPr txBox="1"/>
          <p:nvPr/>
        </p:nvSpPr>
        <p:spPr>
          <a:xfrm>
            <a:off x="341376" y="5513832"/>
            <a:ext cx="993648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Fine-tuning delivers the most balanced performance.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Prompt engineering alone cannot ensure reliable summarization.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Retrieval augmentation helps only when the model effectively integrates retrieved evidence.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4789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3DCE02-EB50-85D4-B0A7-B3A1EE0F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latin typeface="Times New Roman"/>
                <a:cs typeface="Times New Roman"/>
              </a:rPr>
              <a:t>A comparative evaluation of </a:t>
            </a:r>
            <a:r>
              <a:rPr lang="en-US" sz="1800" b="1">
                <a:latin typeface="Times New Roman"/>
                <a:cs typeface="Times New Roman"/>
              </a:rPr>
              <a:t>16 Malayalam abstractive summarization configurations</a:t>
            </a:r>
            <a:r>
              <a:rPr lang="en-US" sz="1800">
                <a:latin typeface="Times New Roman"/>
                <a:cs typeface="Times New Roman"/>
              </a:rPr>
              <a:t> was performed across:</a:t>
            </a:r>
            <a:endParaRPr lang="en-US" sz="1800" dirty="0">
              <a:latin typeface="Times New Roman"/>
              <a:cs typeface="Times New Roman"/>
            </a:endParaRPr>
          </a:p>
          <a:p>
            <a:pPr lvl="1"/>
            <a:r>
              <a:rPr lang="en-US" sz="1600">
                <a:latin typeface="Times New Roman"/>
                <a:cs typeface="Times New Roman"/>
              </a:rPr>
              <a:t>Zero-shot prompting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Two-shot prompting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Supervised fine-tuning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Retrieval-Augmented Generation (RAG)</a:t>
            </a:r>
          </a:p>
          <a:p>
            <a:r>
              <a:rPr lang="en-US" sz="1800" b="1">
                <a:latin typeface="Times New Roman"/>
                <a:cs typeface="Times New Roman"/>
              </a:rPr>
              <a:t>Fine-tuned models consistently outperformed prompt-based and RAG approaches</a:t>
            </a:r>
            <a:r>
              <a:rPr lang="en-US" sz="1800">
                <a:latin typeface="Times New Roman"/>
                <a:cs typeface="Times New Roman"/>
              </a:rPr>
              <a:t> in both summarization quality and factual reliability.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 b="1" dirty="0">
                <a:latin typeface="Times New Roman"/>
                <a:cs typeface="Times New Roman"/>
              </a:rPr>
              <a:t>Fine-tuned mT5 emerged as the most balanced model</a:t>
            </a:r>
            <a:r>
              <a:rPr lang="en-US" sz="1800" dirty="0">
                <a:latin typeface="Times New Roman"/>
                <a:cs typeface="Times New Roman"/>
              </a:rPr>
              <a:t>, achieving: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Highest Faithfulness (</a:t>
            </a:r>
            <a:r>
              <a:rPr lang="en-US" sz="1600" b="1">
                <a:latin typeface="Times New Roman"/>
                <a:cs typeface="Times New Roman"/>
              </a:rPr>
              <a:t>0.9222</a:t>
            </a:r>
            <a:r>
              <a:rPr lang="en-US" sz="1600">
                <a:latin typeface="Times New Roman"/>
                <a:cs typeface="Times New Roman"/>
              </a:rPr>
              <a:t>)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Lowest Hallucination Score (</a:t>
            </a:r>
            <a:r>
              <a:rPr lang="en-US" sz="1600" b="1">
                <a:latin typeface="Times New Roman"/>
                <a:cs typeface="Times New Roman"/>
              </a:rPr>
              <a:t>0.0553</a:t>
            </a:r>
            <a:r>
              <a:rPr lang="en-US" sz="1600">
                <a:latin typeface="Times New Roman"/>
                <a:cs typeface="Times New Roman"/>
              </a:rPr>
              <a:t>)</a:t>
            </a:r>
          </a:p>
          <a:p>
            <a:r>
              <a:rPr lang="en-US" sz="1800" b="1" dirty="0">
                <a:latin typeface="Times New Roman"/>
                <a:cs typeface="Times New Roman"/>
              </a:rPr>
              <a:t>Fine-tuned </a:t>
            </a:r>
            <a:r>
              <a:rPr lang="en-US" sz="1800" b="1" dirty="0" err="1">
                <a:latin typeface="Times New Roman"/>
                <a:cs typeface="Times New Roman"/>
              </a:rPr>
              <a:t>mBART</a:t>
            </a:r>
            <a:r>
              <a:rPr lang="en-US" sz="1800" b="1" dirty="0">
                <a:latin typeface="Times New Roman"/>
                <a:cs typeface="Times New Roman"/>
              </a:rPr>
              <a:t> achieved the strongest lexical overlap performance</a:t>
            </a:r>
            <a:endParaRPr lang="en-US" sz="1800" dirty="0">
              <a:latin typeface="Times New Roman"/>
              <a:cs typeface="Times New Roman"/>
            </a:endParaRPr>
          </a:p>
          <a:p>
            <a:pPr lvl="1"/>
            <a:r>
              <a:rPr lang="en-US" sz="1600">
                <a:latin typeface="Times New Roman"/>
                <a:cs typeface="Times New Roman"/>
              </a:rPr>
              <a:t>Highest ROUGE and BLEU scores</a:t>
            </a:r>
          </a:p>
          <a:p>
            <a:r>
              <a:rPr lang="en-US" sz="1800">
                <a:latin typeface="Times New Roman"/>
                <a:cs typeface="Times New Roman"/>
              </a:rPr>
              <a:t>Prompt-based methods showed limited and architecture-dependent improvements.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cs typeface="Times New Roman"/>
              </a:rPr>
              <a:t>RAG improved contextual grounding for some models, but performance depended heavily on retrieval quality and model compatibility.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Hallucination-aware evaluation provided deeper insight into factual reliability beyond conventional overlap metrics.</a:t>
            </a:r>
          </a:p>
          <a:p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0CCE2C-865C-E6EA-3D2A-33910BE7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4" y="531541"/>
            <a:ext cx="11436823" cy="421441"/>
          </a:xfrm>
        </p:spPr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57CF0-466A-1354-47E3-C321E5D6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FDA2B-CD9D-7983-E526-1BA46157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750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0C1DBC-63FF-5671-B3D8-6011C0EE3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latin typeface="Georgia"/>
              </a:rPr>
              <a:t>Expand the dataset with </a:t>
            </a:r>
            <a:r>
              <a:rPr lang="en-US" sz="1800" b="1">
                <a:latin typeface="Georgia"/>
              </a:rPr>
              <a:t>larger and more diverse Malayalam summarization corpora</a:t>
            </a:r>
            <a:r>
              <a:rPr lang="en-US" sz="1800">
                <a:latin typeface="Georgia"/>
              </a:rPr>
              <a:t> to improve model generalization.</a:t>
            </a:r>
          </a:p>
          <a:p>
            <a:r>
              <a:rPr lang="en-US" sz="1800">
                <a:latin typeface="Georgia"/>
              </a:rPr>
              <a:t>Improve retrieval quality in RAG using:</a:t>
            </a:r>
          </a:p>
          <a:p>
            <a:pPr lvl="1"/>
            <a:r>
              <a:rPr lang="en-US" sz="1600">
                <a:latin typeface="Georgia"/>
              </a:rPr>
              <a:t>stronger embedding models</a:t>
            </a:r>
          </a:p>
          <a:p>
            <a:pPr lvl="1"/>
            <a:r>
              <a:rPr lang="en-US" sz="1600">
                <a:latin typeface="Georgia"/>
              </a:rPr>
              <a:t>better chunking strategies</a:t>
            </a:r>
          </a:p>
          <a:p>
            <a:pPr lvl="1"/>
            <a:r>
              <a:rPr lang="en-US" sz="1600">
                <a:latin typeface="Georgia"/>
              </a:rPr>
              <a:t>optimized retrieval mechanisms</a:t>
            </a:r>
          </a:p>
          <a:p>
            <a:r>
              <a:rPr lang="en-US" sz="1800">
                <a:latin typeface="Georgia"/>
              </a:rPr>
              <a:t>Incorporate </a:t>
            </a:r>
            <a:r>
              <a:rPr lang="en-US" sz="1800" b="1">
                <a:latin typeface="Georgia"/>
              </a:rPr>
              <a:t>human evaluation</a:t>
            </a:r>
            <a:r>
              <a:rPr lang="en-US" sz="1800">
                <a:latin typeface="Georgia"/>
              </a:rPr>
              <a:t> for assessing summary readability, coherence, and factual correctness beyond automatic metrics.</a:t>
            </a:r>
          </a:p>
          <a:p>
            <a:r>
              <a:rPr lang="en-US" sz="1800">
                <a:latin typeface="Georgia"/>
              </a:rPr>
              <a:t>Explore </a:t>
            </a:r>
            <a:r>
              <a:rPr lang="en-US" sz="1800" b="1">
                <a:latin typeface="Georgia"/>
              </a:rPr>
              <a:t>larger multilingual instruction-tuned language models</a:t>
            </a:r>
            <a:r>
              <a:rPr lang="en-US" sz="1800">
                <a:latin typeface="Georgia"/>
              </a:rPr>
              <a:t> for stronger zero-shot and few-shot summarization.</a:t>
            </a:r>
          </a:p>
          <a:p>
            <a:r>
              <a:rPr lang="en-US" sz="1800">
                <a:latin typeface="Georgia"/>
              </a:rPr>
              <a:t>Investigate </a:t>
            </a:r>
            <a:r>
              <a:rPr lang="en-US" sz="1800" b="1">
                <a:latin typeface="Georgia"/>
              </a:rPr>
              <a:t>retrieval-aware fine-tuning</a:t>
            </a:r>
            <a:r>
              <a:rPr lang="en-US" sz="1800">
                <a:latin typeface="Georgia"/>
              </a:rPr>
              <a:t> to better combine external contextual grounding with supervised learning.</a:t>
            </a:r>
          </a:p>
          <a:p>
            <a:r>
              <a:rPr lang="en-US" sz="1800">
                <a:latin typeface="Georgia"/>
              </a:rPr>
              <a:t>Extend the framework to </a:t>
            </a:r>
            <a:r>
              <a:rPr lang="en-US" sz="1800" b="1">
                <a:latin typeface="Georgia"/>
              </a:rPr>
              <a:t>domain-specific summarization tasks</a:t>
            </a:r>
            <a:r>
              <a:rPr lang="en-US" sz="1800">
                <a:latin typeface="Georgia"/>
              </a:rPr>
              <a:t> such as news, legal, and medical Malayalam documents.</a:t>
            </a:r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EFA315-C3F6-74DE-5410-AF122082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Future 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1968F-59F1-785F-95BC-16BA9ECA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81F82-4875-22F0-6249-3F1CB5D6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192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643" y="802640"/>
            <a:ext cx="10726807" cy="524269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[1] K. Nambiar Sindhya, “Attention based Abstractive Summarization of Malayalam Document,” Procedia Computer Science, vol. 189, pp. 250– 257, 2021,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10.1016/j.procs.2021.05.088.</a:t>
            </a:r>
          </a:p>
          <a:p>
            <a:pPr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[2] S. K. Nambiar, D. Peter S., and S. M. Idicula, “Abstractive </a:t>
            </a:r>
            <a:r>
              <a:rPr lang="en-US" sz="1800" dirty="0" err="1">
                <a:latin typeface="Times New Roman"/>
                <a:cs typeface="Times New Roman"/>
              </a:rPr>
              <a:t>Summariza</a:t>
            </a:r>
            <a:r>
              <a:rPr lang="en-US" sz="1800" dirty="0">
                <a:latin typeface="Times New Roman"/>
                <a:cs typeface="Times New Roman"/>
              </a:rPr>
              <a:t>- </a:t>
            </a:r>
            <a:r>
              <a:rPr lang="en-US" sz="1800" dirty="0" err="1">
                <a:latin typeface="Times New Roman"/>
                <a:cs typeface="Times New Roman"/>
              </a:rPr>
              <a:t>tion</a:t>
            </a:r>
            <a:r>
              <a:rPr lang="en-US" sz="1800" dirty="0">
                <a:latin typeface="Times New Roman"/>
                <a:cs typeface="Times New Roman"/>
              </a:rPr>
              <a:t> of Text Document in Malayalam Language: Enhancing Attention Model Using POS Tagging Feature,” ACM Transactions on Asian and Low-Resource Language Information Processing, vol. 22, no. 2, 2023,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10.1145/3561819. </a:t>
            </a:r>
          </a:p>
          <a:p>
            <a:pPr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[3] R. Raj M and D. S. Pankaj, “Social-sum-Mal: A Dataset for Abstractive Text Summarization in Malayalam,” ACM Transactions on Asian and Low-Resource Language Information Processing, vol. 23, no. 11, 2024,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10.1145/3696107. </a:t>
            </a:r>
          </a:p>
          <a:p>
            <a:pPr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[4] M. Parikh, A. Gandhi, and R. Tripathi, “Approaches for Summarization of Articles Across Multiple Languages: A Review,” in 2025 Inter- national Conference on Machine Learning and Autonomous Systems (ICMLAS), 2025,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10.1109/ICMLAS64557.2025.10968896.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[5] H. Tanev, A. S. Pillai, and R. V. R., “Leveraging </a:t>
            </a:r>
            <a:r>
              <a:rPr lang="en-US" sz="1800" dirty="0" err="1">
                <a:latin typeface="Times New Roman"/>
                <a:cs typeface="Times New Roman"/>
              </a:rPr>
              <a:t>LLaMa</a:t>
            </a:r>
            <a:r>
              <a:rPr lang="en-US" sz="1800" dirty="0">
                <a:latin typeface="Times New Roman"/>
                <a:cs typeface="Times New Roman"/>
              </a:rPr>
              <a:t> for Abstractive Text </a:t>
            </a:r>
            <a:r>
              <a:rPr lang="en-US" sz="1800" dirty="0" err="1">
                <a:latin typeface="Times New Roman"/>
                <a:cs typeface="Times New Roman"/>
              </a:rPr>
              <a:t>Summarisation</a:t>
            </a:r>
            <a:r>
              <a:rPr lang="en-US" sz="1800" dirty="0">
                <a:latin typeface="Times New Roman"/>
                <a:cs typeface="Times New Roman"/>
              </a:rPr>
              <a:t> in Malayalam: An Experimental Study,” in Proceed- </a:t>
            </a:r>
            <a:r>
              <a:rPr lang="en-US" sz="1800" dirty="0" err="1">
                <a:latin typeface="Times New Roman"/>
                <a:cs typeface="Times New Roman"/>
              </a:rPr>
              <a:t>ings</a:t>
            </a:r>
            <a:r>
              <a:rPr lang="en-US" sz="1800" dirty="0">
                <a:latin typeface="Times New Roman"/>
                <a:cs typeface="Times New Roman"/>
              </a:rPr>
              <a:t> of Recent Advances in Natural Language Processing, pp. 1248– 1255, 2025,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10.26615/978-954-452-098-4-144.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956" y="6478751"/>
            <a:ext cx="758687" cy="365125"/>
          </a:xfrm>
        </p:spPr>
        <p:txBody>
          <a:bodyPr/>
          <a:lstStyle/>
          <a:p>
            <a:fld id="{ADB69F8F-66AA-4CFE-9598-CBAEF4587E7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</a:p>
        </p:txBody>
      </p:sp>
    </p:spTree>
    <p:extLst>
      <p:ext uri="{BB962C8B-B14F-4D97-AF65-F5344CB8AC3E}">
        <p14:creationId xmlns:p14="http://schemas.microsoft.com/office/powerpoint/2010/main" val="2087735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950" y="885825"/>
            <a:ext cx="10710672" cy="5240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[6] P. Prabhakar, D. Gupta, and P. B. Pati, “Abstractive Summarization of Indian Legal Judgments,” in 2022 OITS International Conference on Information Technology (OCIT), Bhubaneswar, India, 2022, pp. 256– 261,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10.1109/OCIT56763.2022.00056. </a:t>
            </a:r>
            <a:endParaRPr lang="en-US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[7] V. Gangadharan, D. Gupta, J. </a:t>
            </a:r>
            <a:r>
              <a:rPr lang="en-US" sz="1800" dirty="0" err="1">
                <a:latin typeface="Times New Roman"/>
                <a:cs typeface="Times New Roman"/>
              </a:rPr>
              <a:t>Jaganadh</a:t>
            </a:r>
            <a:r>
              <a:rPr lang="en-US" sz="1800" dirty="0">
                <a:latin typeface="Times New Roman"/>
                <a:cs typeface="Times New Roman"/>
              </a:rPr>
              <a:t>, and S. Sreekumar, “A Graph Based Conceptual Mining Model for Abstractive Text </a:t>
            </a:r>
            <a:r>
              <a:rPr lang="en-US" sz="1800" dirty="0" err="1">
                <a:latin typeface="Times New Roman"/>
                <a:cs typeface="Times New Roman"/>
              </a:rPr>
              <a:t>Summariza</a:t>
            </a:r>
            <a:r>
              <a:rPr lang="en-US" sz="1800" dirty="0">
                <a:latin typeface="Times New Roman"/>
                <a:cs typeface="Times New Roman"/>
              </a:rPr>
              <a:t>- </a:t>
            </a:r>
            <a:r>
              <a:rPr lang="en-US" sz="1800" dirty="0" err="1">
                <a:latin typeface="Times New Roman"/>
                <a:cs typeface="Times New Roman"/>
              </a:rPr>
              <a:t>tion</a:t>
            </a:r>
            <a:r>
              <a:rPr lang="en-US" sz="1800" dirty="0">
                <a:latin typeface="Times New Roman"/>
                <a:cs typeface="Times New Roman"/>
              </a:rPr>
              <a:t>,” Indian Journal of Science and Technology, vol. 9, 2016,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10.17485/</a:t>
            </a:r>
            <a:r>
              <a:rPr lang="en-US" sz="1800" dirty="0" err="1">
                <a:latin typeface="Times New Roman"/>
                <a:cs typeface="Times New Roman"/>
              </a:rPr>
              <a:t>ijst</a:t>
            </a:r>
            <a:r>
              <a:rPr lang="en-US" sz="1800" dirty="0">
                <a:latin typeface="Times New Roman"/>
                <a:cs typeface="Times New Roman"/>
              </a:rPr>
              <a:t>/2016/v9iS1/99876. </a:t>
            </a:r>
            <a:endParaRPr lang="en-US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[8] G. V. M. Chandu, A. Premkumar, S. S. K., and N. Sampath, “Extractive Approach For Query Based Text Summarization,” in 2019 International Conference on Issues and Challenges in Intelligent Computing Tech- </a:t>
            </a:r>
            <a:r>
              <a:rPr lang="en-US" sz="1800" dirty="0" err="1">
                <a:latin typeface="Times New Roman"/>
                <a:cs typeface="Times New Roman"/>
              </a:rPr>
              <a:t>niques</a:t>
            </a:r>
            <a:r>
              <a:rPr lang="en-US" sz="1800" dirty="0">
                <a:latin typeface="Times New Roman"/>
                <a:cs typeface="Times New Roman"/>
              </a:rPr>
              <a:t> (ICICT), 2019, pp. 1–5,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10.1109/ICICT46931.2019.8977708. </a:t>
            </a:r>
            <a:endParaRPr lang="en-US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[9] R. Ramachandran, A. Aggarwal, and K. Varshney, “Text Summarization and Image Decomposition of Medical Documents,” in 2023 IEEE Global Conference for Advancement in Technology (GCAT), Bengaluru, India, 2023, pp. 1–6,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10.1109/GCAT59970.2023.10353471.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/>
                <a:cs typeface="Times New Roman"/>
              </a:rPr>
              <a:t>[10] B. M. G, P. K. R, E. R, S. J. N. R. B, V. Anvitha, and V. Sulochana, “Fine Tuning Pretrained Transformers for Abstractive News Summarization,” in 2023 International Conference on Evolutionary Algorithms and Soft Computing Techniques (EASCT), Bengaluru, India, 2023, pp. 1–5, </a:t>
            </a:r>
            <a:r>
              <a:rPr lang="en-US" sz="1800" dirty="0" err="1">
                <a:latin typeface="Times New Roman"/>
                <a:cs typeface="Times New Roman"/>
              </a:rPr>
              <a:t>doi</a:t>
            </a:r>
            <a:r>
              <a:rPr lang="en-US" sz="1800" dirty="0">
                <a:latin typeface="Times New Roman"/>
                <a:cs typeface="Times New Roman"/>
              </a:rPr>
              <a:t>: 10.1109/EASCT59475.2023.10393603.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956" y="6478751"/>
            <a:ext cx="758687" cy="365125"/>
          </a:xfrm>
        </p:spPr>
        <p:txBody>
          <a:bodyPr/>
          <a:lstStyle/>
          <a:p>
            <a:fld id="{ADB69F8F-66AA-4CFE-9598-CBAEF4587E7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</a:p>
        </p:txBody>
      </p:sp>
    </p:spTree>
    <p:extLst>
      <p:ext uri="{BB962C8B-B14F-4D97-AF65-F5344CB8AC3E}">
        <p14:creationId xmlns:p14="http://schemas.microsoft.com/office/powerpoint/2010/main" val="3692235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E9EDF0-4113-334F-9B47-12CC15A6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1" y="2633318"/>
            <a:ext cx="5819774" cy="1271932"/>
          </a:xfrm>
        </p:spPr>
        <p:txBody>
          <a:bodyPr/>
          <a:lstStyle/>
          <a:p>
            <a:r>
              <a:rPr lang="en-US" sz="6000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09B38-9AD0-7347-8960-2DA962C99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56" y="6478751"/>
            <a:ext cx="758687" cy="365125"/>
          </a:xfrm>
        </p:spPr>
        <p:txBody>
          <a:bodyPr/>
          <a:lstStyle/>
          <a:p>
            <a:fld id="{71766878-3199-4EAB-94E7-2D6D11070E14}" type="slidenum">
              <a:rPr lang="en-US" dirty="0" smtClean="0"/>
              <a:pPr/>
              <a:t>27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Computing, Bengaluru</a:t>
            </a:r>
          </a:p>
        </p:txBody>
      </p:sp>
    </p:spTree>
    <p:extLst>
      <p:ext uri="{BB962C8B-B14F-4D97-AF65-F5344CB8AC3E}">
        <p14:creationId xmlns:p14="http://schemas.microsoft.com/office/powerpoint/2010/main" val="4230959271"/>
      </p:ext>
    </p:extLst>
  </p:cSld>
  <p:clrMapOvr>
    <a:masterClrMapping/>
  </p:clrMapOvr>
</p:sld>
</file>

<file path=ppt/theme/theme1.xml><?xml version="1.0" encoding="utf-8"?>
<a:theme xmlns:a="http://schemas.openxmlformats.org/drawingml/2006/main" name="NAAC PR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AC PRT Template [Compatibility Mode]" id="{A3D2B74B-B15B-466F-9768-BD91F499C34C}" vid="{0E57DE27-252B-4995-BE16-123377BD3E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D7181F0CA5846AA49DC089A86D46D" ma:contentTypeVersion="7" ma:contentTypeDescription="Create a new document." ma:contentTypeScope="" ma:versionID="6aaf3339c1cee7db7de9add63cde7fd7">
  <xsd:schema xmlns:xsd="http://www.w3.org/2001/XMLSchema" xmlns:xs="http://www.w3.org/2001/XMLSchema" xmlns:p="http://schemas.microsoft.com/office/2006/metadata/properties" xmlns:ns2="72316fd4-f550-4442-b53d-c3f520c90673" xmlns:ns3="0871b904-98c6-4e86-9e88-11239d2b074e" targetNamespace="http://schemas.microsoft.com/office/2006/metadata/properties" ma:root="true" ma:fieldsID="bf40f5f5c8465fe7c1683ca7025a1652" ns2:_="" ns3:_="">
    <xsd:import namespace="72316fd4-f550-4442-b53d-c3f520c90673"/>
    <xsd:import namespace="0871b904-98c6-4e86-9e88-11239d2b07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16fd4-f550-4442-b53d-c3f520c906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1b904-98c6-4e86-9e88-11239d2b074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8FEAA8-0548-4F62-9011-BF5A8ACE7B87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0871b904-98c6-4e86-9e88-11239d2b074e"/>
    <ds:schemaRef ds:uri="72316fd4-f550-4442-b53d-c3f520c90673"/>
  </ds:schemaRefs>
</ds:datastoreItem>
</file>

<file path=customXml/itemProps2.xml><?xml version="1.0" encoding="utf-8"?>
<ds:datastoreItem xmlns:ds="http://schemas.openxmlformats.org/officeDocument/2006/customXml" ds:itemID="{EB9027C6-EF04-46C1-8410-E55332E297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316fd4-f550-4442-b53d-c3f520c90673"/>
    <ds:schemaRef ds:uri="0871b904-98c6-4e86-9e88-11239d2b07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CC50E3-F888-4D3F-A20C-B500B38A91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NAAC PRT Template</Template>
  <TotalTime>10761</TotalTime>
  <Words>750</Words>
  <Application>Microsoft Office PowerPoint</Application>
  <PresentationFormat>Widescreen</PresentationFormat>
  <Paragraphs>56</Paragraphs>
  <Slides>27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NAAC PRT Template</vt:lpstr>
      <vt:lpstr>PowerPoint Presentation</vt:lpstr>
      <vt:lpstr>Outline</vt:lpstr>
      <vt:lpstr>PowerPoint Presentation</vt:lpstr>
      <vt:lpstr>Problem Statement</vt:lpstr>
      <vt:lpstr>Objectives</vt:lpstr>
      <vt:lpstr>Literature Survey 1</vt:lpstr>
      <vt:lpstr>Literature Survey 2</vt:lpstr>
      <vt:lpstr>Literature Survey Summary</vt:lpstr>
      <vt:lpstr>Research Gap</vt:lpstr>
      <vt:lpstr>Dataset Sources</vt:lpstr>
      <vt:lpstr>Dataset Preparation</vt:lpstr>
      <vt:lpstr>Evaluation Metrics</vt:lpstr>
      <vt:lpstr>Methodology</vt:lpstr>
      <vt:lpstr>Experimental Parameter Settings</vt:lpstr>
      <vt:lpstr>Fine Tuning Parameter Settings</vt:lpstr>
      <vt:lpstr>Overall Comparative Performance</vt:lpstr>
      <vt:lpstr>Fine-tuned Model Performance</vt:lpstr>
      <vt:lpstr>Prompt-based Model Comparison (Zero-shot vs Two-shot)</vt:lpstr>
      <vt:lpstr>Retrieval-Augmented Generation (RAG) Analysis</vt:lpstr>
      <vt:lpstr>Best Model Comparison</vt:lpstr>
      <vt:lpstr>Error Analysis</vt:lpstr>
      <vt:lpstr>Comparative Heatmap</vt:lpstr>
      <vt:lpstr>Conclusion</vt:lpstr>
      <vt:lpstr>Future Work</vt:lpstr>
      <vt:lpstr>References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bp_peeta@blr.amrita.edu</dc:creator>
  <cp:lastModifiedBy>Manju Sreekumar</cp:lastModifiedBy>
  <cp:revision>1823</cp:revision>
  <dcterms:created xsi:type="dcterms:W3CDTF">2021-03-08T16:55:55Z</dcterms:created>
  <dcterms:modified xsi:type="dcterms:W3CDTF">2026-05-19T19:15:24Z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0x0101003B2D7181F0CA5846AA49DC089A86D46D</vt:lpwstr>
  </property>
</Properties>
</file>